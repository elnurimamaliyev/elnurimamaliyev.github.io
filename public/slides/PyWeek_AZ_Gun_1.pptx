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JetBrains Mono" panose="02000009000000000000" pitchFamily="49" charset="0"/>
      <p:regular r:id="rId28"/>
      <p:bold r:id="rId29"/>
      <p:italic r:id="rId30"/>
      <p:boldItalic r:id="rId31"/>
    </p:embeddedFont>
    <p:embeddedFont>
      <p:font typeface="Trebuchet MS" panose="020B0703020202090204" pitchFamily="34" charset="0"/>
      <p:regular r:id="rId32"/>
      <p:bold r:id="rId33"/>
      <p: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g7NZ0KDwoktHNjDPDXYOyloMpu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" name="Google Shape;2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dba6c06f64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g3dba6c06f64_0_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" name="Google Shape;34;g3dba6c06f64_0_1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ba6c06f64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3dba6c06f64_0_2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g3dba6c06f64_0_2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ba6c06f64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dba6c06f64_0_2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dba6c06f64_0_2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ba6c06f64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dba6c06f64_0_3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g3dba6c06f64_0_3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ba6c06f64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3dba6c06f64_0_5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dba6c06f64_0_5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ba6c06f64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3dba6c06f64_0_6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dba6c06f64_0_6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ba6c06f64_0_6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3dba6c06f64_0_6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dba6c06f64_0_6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ba6c06f64_0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g3dba6c06f64_0_4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g3dba6c06f64_0_4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ba6c06f64_0_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g3dba6c06f64_0_6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3dba6c06f64_0_6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ba6c06f64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g3dba6c06f64_0_7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" name="Google Shape;420;g3dba6c06f64_0_7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ba6c06f64_0_7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g3dba6c06f64_0_7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g3dba6c06f64_0_7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FFD43B">
              <a:alpha val="9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583680" y="-731520"/>
            <a:ext cx="3291840" cy="3291840"/>
          </a:xfrm>
          <a:prstGeom prst="ellipse">
            <a:avLst/>
          </a:prstGeom>
          <a:solidFill>
            <a:srgbClr val="FFD43B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4572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/>
          <p:nvPr/>
        </p:nvSpPr>
        <p:spPr>
          <a:xfrm>
            <a:off x="640080" y="137160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5400"/>
              <a:buFont typeface="Trebuchet MS"/>
              <a:buNone/>
            </a:pPr>
            <a:r>
              <a:rPr lang="en-US" sz="5400" b="1" i="0" u="none" strike="noStrike" cap="none">
                <a:solidFill>
                  <a:srgbClr val="FFD43B"/>
                </a:solidFill>
                <a:latin typeface="Trebuchet MS"/>
                <a:ea typeface="Trebuchet MS"/>
                <a:cs typeface="Trebuchet MS"/>
                <a:sym typeface="Trebuchet MS"/>
              </a:rPr>
              <a:t>PyWeek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40080" y="23774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E8ECF1"/>
                </a:solidFill>
              </a:rPr>
              <a:t>Gün</a:t>
            </a:r>
            <a:r>
              <a:rPr lang="en-US" sz="2200" i="0" u="none" strike="noStrike" cap="none">
                <a:solidFill>
                  <a:srgbClr val="E8ECF1"/>
                </a:solidFill>
              </a:rPr>
              <a:t> 1 — Al</a:t>
            </a:r>
            <a:r>
              <a:rPr lang="en-US" sz="2200">
                <a:solidFill>
                  <a:srgbClr val="E8ECF1"/>
                </a:solidFill>
              </a:rPr>
              <a:t>qoritmlər</a:t>
            </a:r>
            <a:r>
              <a:rPr lang="en-US" sz="2200" i="0" u="none" strike="noStrike" cap="none">
                <a:solidFill>
                  <a:srgbClr val="E8ECF1"/>
                </a:solidFill>
              </a:rPr>
              <a:t> &amp; Python</a:t>
            </a:r>
            <a:r>
              <a:rPr lang="en-US" sz="2200">
                <a:solidFill>
                  <a:srgbClr val="E8ECF1"/>
                </a:solidFill>
              </a:rPr>
              <a:t>-un əsasları</a:t>
            </a:r>
            <a:endParaRPr sz="2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40080" y="32004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lang="en-US" i="1">
                <a:solidFill>
                  <a:srgbClr val="8899AA"/>
                </a:solidFill>
              </a:rPr>
              <a:t>2 saatda sıfırdan</a:t>
            </a:r>
            <a:r>
              <a:rPr lang="en-US" sz="1400" i="1" u="none" strike="noStrike" cap="none">
                <a:solidFill>
                  <a:srgbClr val="8899AA"/>
                </a:solidFill>
              </a:rPr>
              <a:t> </a:t>
            </a:r>
            <a:r>
              <a:rPr lang="en-US" i="1">
                <a:solidFill>
                  <a:srgbClr val="8899AA"/>
                </a:solidFill>
              </a:rPr>
              <a:t>alqoritmik məsələləri həll etməyə doğru</a:t>
            </a:r>
            <a:r>
              <a:rPr lang="en-US" sz="1400" i="1" u="none" strike="noStrike" cap="none">
                <a:solidFill>
                  <a:srgbClr val="8899AA"/>
                </a:solidFill>
              </a:rPr>
              <a:t> </a:t>
            </a:r>
            <a:endParaRPr sz="14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40080" y="47091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Workshop  •  </a:t>
            </a:r>
            <a:r>
              <a:rPr lang="en-US" sz="1200">
                <a:solidFill>
                  <a:srgbClr val="8899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Qarışıq səviyyələr</a:t>
            </a:r>
            <a:r>
              <a:rPr lang="en-US" sz="1200" i="0" u="none" strike="noStrike" cap="none">
                <a:solidFill>
                  <a:srgbClr val="8899A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 Python 3</a:t>
            </a:r>
            <a:endParaRPr sz="1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dba6c06f64_0_136"/>
          <p:cNvSpPr/>
          <p:nvPr/>
        </p:nvSpPr>
        <p:spPr>
          <a:xfrm>
            <a:off x="640080" y="32004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3600"/>
              <a:buFont typeface="Trebuchet MS"/>
              <a:buNone/>
            </a:pPr>
            <a:r>
              <a:rPr lang="en-US" sz="3600" b="1" i="0" u="none" strike="noStrike" cap="none">
                <a:solidFill>
                  <a:srgbClr val="FFD43B"/>
                </a:solidFill>
                <a:latin typeface="Trebuchet MS"/>
                <a:ea typeface="Trebuchet MS"/>
                <a:cs typeface="Trebuchet MS"/>
                <a:sym typeface="Trebuchet MS"/>
              </a:rPr>
              <a:t>Today's Roadmap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dba6c06f64_0_136"/>
          <p:cNvSpPr/>
          <p:nvPr/>
        </p:nvSpPr>
        <p:spPr>
          <a:xfrm>
            <a:off x="457200" y="116128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g3dba6c06f64_0_13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261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g3dba6c06f64_0_136"/>
          <p:cNvSpPr/>
          <p:nvPr/>
        </p:nvSpPr>
        <p:spPr>
          <a:xfrm>
            <a:off x="2743200" y="118872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Welcome &amp; Setup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dba6c06f64_0_136"/>
          <p:cNvSpPr/>
          <p:nvPr/>
        </p:nvSpPr>
        <p:spPr>
          <a:xfrm>
            <a:off x="5029200" y="118872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Intros, install check, icebreaker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g3dba6c06f64_0_13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18562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g3dba6c06f64_0_136"/>
          <p:cNvSpPr/>
          <p:nvPr/>
        </p:nvSpPr>
        <p:spPr>
          <a:xfrm>
            <a:off x="2743200" y="178308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Basics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dba6c06f64_0_136"/>
          <p:cNvSpPr/>
          <p:nvPr/>
        </p:nvSpPr>
        <p:spPr>
          <a:xfrm>
            <a:off x="5029200" y="178308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Variables, loops, conditionals, functions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dba6c06f64_0_136"/>
          <p:cNvSpPr/>
          <p:nvPr/>
        </p:nvSpPr>
        <p:spPr>
          <a:xfrm>
            <a:off x="457200" y="235000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g3dba6c06f64_0_13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245059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g3dba6c06f64_0_136"/>
          <p:cNvSpPr/>
          <p:nvPr/>
        </p:nvSpPr>
        <p:spPr>
          <a:xfrm>
            <a:off x="2743200" y="237744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dba6c06f64_0_136"/>
          <p:cNvSpPr/>
          <p:nvPr/>
        </p:nvSpPr>
        <p:spPr>
          <a:xfrm>
            <a:off x="5029200" y="237744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Stretch &amp; recharge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g3dba6c06f64_0_13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g3dba6c06f64_0_136"/>
          <p:cNvSpPr/>
          <p:nvPr/>
        </p:nvSpPr>
        <p:spPr>
          <a:xfrm>
            <a:off x="2743200" y="297180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Dictionaries &amp; Data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dba6c06f64_0_136"/>
          <p:cNvSpPr/>
          <p:nvPr/>
        </p:nvSpPr>
        <p:spPr>
          <a:xfrm>
            <a:off x="5029200" y="297180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Key-value pairs, reading files &amp; CSV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dba6c06f64_0_136"/>
          <p:cNvSpPr/>
          <p:nvPr/>
        </p:nvSpPr>
        <p:spPr>
          <a:xfrm>
            <a:off x="457200" y="353872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g3dba6c06f64_0_13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080" y="36393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dba6c06f64_0_136"/>
          <p:cNvSpPr/>
          <p:nvPr/>
        </p:nvSpPr>
        <p:spPr>
          <a:xfrm>
            <a:off x="2743200" y="356616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 Challenges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dba6c06f64_0_136"/>
          <p:cNvSpPr/>
          <p:nvPr/>
        </p:nvSpPr>
        <p:spPr>
          <a:xfrm>
            <a:off x="5029200" y="356616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Solve puzzles in Python!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g3dba6c06f64_0_13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0080" y="42336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dba6c06f64_0_136"/>
          <p:cNvSpPr/>
          <p:nvPr/>
        </p:nvSpPr>
        <p:spPr>
          <a:xfrm>
            <a:off x="2743200" y="416052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Wrap-up &amp; Preview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dba6c06f64_0_136"/>
          <p:cNvSpPr/>
          <p:nvPr/>
        </p:nvSpPr>
        <p:spPr>
          <a:xfrm>
            <a:off x="5029200" y="416052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What's next on Days 2 &amp;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dba6c06f64_0_136"/>
          <p:cNvSpPr/>
          <p:nvPr/>
        </p:nvSpPr>
        <p:spPr>
          <a:xfrm>
            <a:off x="1188720" y="11887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0:00 – 0:30</a:t>
            </a: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" name="Google Shape;59;g3dba6c06f64_0_136"/>
          <p:cNvSpPr/>
          <p:nvPr/>
        </p:nvSpPr>
        <p:spPr>
          <a:xfrm>
            <a:off x="1188720" y="178308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0:30 – 1:10</a:t>
            </a: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" name="Google Shape;60;g3dba6c06f64_0_136"/>
          <p:cNvSpPr/>
          <p:nvPr/>
        </p:nvSpPr>
        <p:spPr>
          <a:xfrm>
            <a:off x="1188720" y="237744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1:10 – 1:20</a:t>
            </a: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g3dba6c06f64_0_136"/>
          <p:cNvSpPr/>
          <p:nvPr/>
        </p:nvSpPr>
        <p:spPr>
          <a:xfrm>
            <a:off x="1188720" y="297180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1:20 – 1:50</a:t>
            </a: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" name="Google Shape;62;g3dba6c06f64_0_136"/>
          <p:cNvSpPr/>
          <p:nvPr/>
        </p:nvSpPr>
        <p:spPr>
          <a:xfrm>
            <a:off x="1188720" y="356616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1:50 – 2:10</a:t>
            </a: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" name="Google Shape;63;g3dba6c06f64_0_136"/>
          <p:cNvSpPr/>
          <p:nvPr/>
        </p:nvSpPr>
        <p:spPr>
          <a:xfrm>
            <a:off x="1188720" y="41605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2:10 – 2:30</a:t>
            </a: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ba6c06f64_0_224"/>
          <p:cNvSpPr/>
          <p:nvPr/>
        </p:nvSpPr>
        <p:spPr>
          <a:xfrm>
            <a:off x="640080" y="32004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3600"/>
              <a:buFont typeface="Trebuchet MS"/>
              <a:buNone/>
            </a:pPr>
            <a:r>
              <a:rPr lang="en-US" sz="3600" b="1">
                <a:solidFill>
                  <a:srgbClr val="FFD43B"/>
                </a:solidFill>
              </a:rPr>
              <a:t>Günün planı</a:t>
            </a:r>
            <a:endParaRPr sz="3600" b="1">
              <a:solidFill>
                <a:srgbClr val="FFD43B"/>
              </a:solidFill>
            </a:endParaRPr>
          </a:p>
        </p:txBody>
      </p:sp>
      <p:sp>
        <p:nvSpPr>
          <p:cNvPr id="70" name="Google Shape;70;g3dba6c06f64_0_224"/>
          <p:cNvSpPr/>
          <p:nvPr/>
        </p:nvSpPr>
        <p:spPr>
          <a:xfrm>
            <a:off x="457200" y="116128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g3dba6c06f64_0_2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261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dba6c06f64_0_224"/>
          <p:cNvSpPr/>
          <p:nvPr/>
        </p:nvSpPr>
        <p:spPr>
          <a:xfrm>
            <a:off x="1188720" y="11887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0:00 – 0:30</a:t>
            </a: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g3dba6c06f64_0_224"/>
          <p:cNvSpPr/>
          <p:nvPr/>
        </p:nvSpPr>
        <p:spPr>
          <a:xfrm>
            <a:off x="2743200" y="118872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Giriş &amp; Quraşdırma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dba6c06f64_0_224"/>
          <p:cNvSpPr/>
          <p:nvPr/>
        </p:nvSpPr>
        <p:spPr>
          <a:xfrm>
            <a:off x="5029200" y="118872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</a:rPr>
              <a:t>Tanışlıq, </a:t>
            </a: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Giriş, </a:t>
            </a:r>
            <a:r>
              <a:rPr lang="en-US" sz="1200">
                <a:solidFill>
                  <a:srgbClr val="8899AA"/>
                </a:solidFill>
              </a:rPr>
              <a:t>Y</a:t>
            </a: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ükləmələr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g3dba6c06f64_0_2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18562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dba6c06f64_0_224"/>
          <p:cNvSpPr/>
          <p:nvPr/>
        </p:nvSpPr>
        <p:spPr>
          <a:xfrm>
            <a:off x="1188720" y="178308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0:30 – 1:10</a:t>
            </a: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g3dba6c06f64_0_224"/>
          <p:cNvSpPr/>
          <p:nvPr/>
        </p:nvSpPr>
        <p:spPr>
          <a:xfrm>
            <a:off x="2743200" y="178308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Python-un əsasları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dba6c06f64_0_224"/>
          <p:cNvSpPr/>
          <p:nvPr/>
        </p:nvSpPr>
        <p:spPr>
          <a:xfrm>
            <a:off x="5029200" y="178308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</a:rPr>
              <a:t>Dəyişənlər</a:t>
            </a: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, döngülər, şərtlər, funksiyalar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dba6c06f64_0_224"/>
          <p:cNvSpPr/>
          <p:nvPr/>
        </p:nvSpPr>
        <p:spPr>
          <a:xfrm>
            <a:off x="457200" y="235000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dba6c06f64_0_22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245059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dba6c06f64_0_224"/>
          <p:cNvSpPr/>
          <p:nvPr/>
        </p:nvSpPr>
        <p:spPr>
          <a:xfrm>
            <a:off x="1188720" y="237744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1:10 – 1:20</a:t>
            </a: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" name="Google Shape;82;g3dba6c06f64_0_224"/>
          <p:cNvSpPr/>
          <p:nvPr/>
        </p:nvSpPr>
        <p:spPr>
          <a:xfrm>
            <a:off x="2743200" y="237744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Fasilə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dba6c06f64_0_224"/>
          <p:cNvSpPr/>
          <p:nvPr/>
        </p:nvSpPr>
        <p:spPr>
          <a:xfrm>
            <a:off x="5029200" y="237744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Fasilə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g3dba6c06f64_0_22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dba6c06f64_0_224"/>
          <p:cNvSpPr/>
          <p:nvPr/>
        </p:nvSpPr>
        <p:spPr>
          <a:xfrm>
            <a:off x="1188720" y="297180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1:20 – 1:50</a:t>
            </a: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" name="Google Shape;86;g3dba6c06f64_0_224"/>
          <p:cNvSpPr/>
          <p:nvPr/>
        </p:nvSpPr>
        <p:spPr>
          <a:xfrm>
            <a:off x="2743200" y="297180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Lüğətlər &amp; Data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dba6c06f64_0_224"/>
          <p:cNvSpPr/>
          <p:nvPr/>
        </p:nvSpPr>
        <p:spPr>
          <a:xfrm>
            <a:off x="5029200" y="2971800"/>
            <a:ext cx="3657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99AA"/>
                </a:solidFill>
              </a:rPr>
              <a:t>Açar-dəyər, fayllar, CSV, NumPy, Pandas, Matplotlib</a:t>
            </a:r>
            <a:endParaRPr sz="1200">
              <a:solidFill>
                <a:srgbClr val="8899AA"/>
              </a:solidFill>
            </a:endParaRPr>
          </a:p>
        </p:txBody>
      </p:sp>
      <p:sp>
        <p:nvSpPr>
          <p:cNvPr id="88" name="Google Shape;88;g3dba6c06f64_0_224"/>
          <p:cNvSpPr/>
          <p:nvPr/>
        </p:nvSpPr>
        <p:spPr>
          <a:xfrm>
            <a:off x="457200" y="353872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g3dba6c06f64_0_22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080" y="36393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dba6c06f64_0_224"/>
          <p:cNvSpPr/>
          <p:nvPr/>
        </p:nvSpPr>
        <p:spPr>
          <a:xfrm>
            <a:off x="1188720" y="356616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1:50 – 2:10</a:t>
            </a: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g3dba6c06f64_0_224"/>
          <p:cNvSpPr/>
          <p:nvPr/>
        </p:nvSpPr>
        <p:spPr>
          <a:xfrm>
            <a:off x="2743200" y="356616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Kiçik Challenge’lər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dba6c06f64_0_224"/>
          <p:cNvSpPr/>
          <p:nvPr/>
        </p:nvSpPr>
        <p:spPr>
          <a:xfrm>
            <a:off x="5029200" y="356616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Python-da kiçik tapşırıqların həlli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g3dba6c06f64_0_22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0080" y="42336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dba6c06f64_0_224"/>
          <p:cNvSpPr/>
          <p:nvPr/>
        </p:nvSpPr>
        <p:spPr>
          <a:xfrm>
            <a:off x="1188720" y="41605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2:10 – 2:30</a:t>
            </a: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" name="Google Shape;95;g3dba6c06f64_0_224"/>
          <p:cNvSpPr/>
          <p:nvPr/>
        </p:nvSpPr>
        <p:spPr>
          <a:xfrm>
            <a:off x="2743200" y="416052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Yekun &amp; icmal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dba6c06f64_0_224"/>
          <p:cNvSpPr/>
          <p:nvPr/>
        </p:nvSpPr>
        <p:spPr>
          <a:xfrm>
            <a:off x="5029200" y="416052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Növbəti günlərdə ediləcəklərin izahı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1280160" y="320040"/>
            <a:ext cx="5486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3600"/>
              <a:buFont typeface="Trebuchet MS"/>
              <a:buNone/>
            </a:pPr>
            <a:r>
              <a:rPr lang="en-US" sz="3600" b="1">
                <a:solidFill>
                  <a:srgbClr val="FFD43B"/>
                </a:solidFill>
                <a:latin typeface="Trebuchet MS"/>
                <a:ea typeface="Trebuchet MS"/>
                <a:cs typeface="Trebuchet MS"/>
                <a:sym typeface="Trebuchet MS"/>
              </a:rPr>
              <a:t>Giriş</a:t>
            </a:r>
            <a:r>
              <a:rPr lang="en-US" sz="3600" b="1" i="0" u="none" strike="noStrike" cap="none">
                <a:solidFill>
                  <a:srgbClr val="FFD43B"/>
                </a:solidFill>
                <a:latin typeface="Trebuchet MS"/>
                <a:ea typeface="Trebuchet MS"/>
                <a:cs typeface="Trebuchet MS"/>
                <a:sym typeface="Trebuchet MS"/>
              </a:rPr>
              <a:t> &amp; </a:t>
            </a:r>
            <a:r>
              <a:rPr lang="en-US" sz="3600" b="1">
                <a:solidFill>
                  <a:srgbClr val="FFD43B"/>
                </a:solidFill>
                <a:latin typeface="Trebuchet MS"/>
                <a:ea typeface="Trebuchet MS"/>
                <a:cs typeface="Trebuchet MS"/>
                <a:sym typeface="Trebuchet MS"/>
              </a:rPr>
              <a:t>Quraşdırma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315200" y="365760"/>
            <a:ext cx="1371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0:00 – 0:20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40080" y="1188720"/>
            <a:ext cx="3749100" cy="29262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40080" y="1188720"/>
            <a:ext cx="3749100" cy="5490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1508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1554475" y="1508750"/>
            <a:ext cx="270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</a:rPr>
              <a:t>İlkin quraşdırma</a:t>
            </a:r>
            <a:endParaRPr sz="1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005840" y="2240280"/>
            <a:ext cx="3017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400"/>
              <a:buChar char="•"/>
            </a:pPr>
            <a:r>
              <a:rPr lang="en-US" sz="1400" i="0" u="none" strike="noStrike" cap="none">
                <a:solidFill>
                  <a:srgbClr val="E8ECF1"/>
                </a:solidFill>
              </a:rPr>
              <a:t>Python 3.10+</a:t>
            </a:r>
            <a:endParaRPr sz="1400" i="0" u="none" strike="noStrike" cap="none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8ECF1"/>
              </a:buClr>
              <a:buSzPts val="1400"/>
              <a:buChar char="•"/>
            </a:pPr>
            <a:r>
              <a:rPr lang="en-US" sz="1400" i="0" u="none" strike="noStrike" cap="none">
                <a:solidFill>
                  <a:srgbClr val="E8ECF1"/>
                </a:solidFill>
              </a:rPr>
              <a:t>VS Code </a:t>
            </a:r>
            <a:r>
              <a:rPr lang="en-US">
                <a:solidFill>
                  <a:srgbClr val="E8ECF1"/>
                </a:solidFill>
              </a:rPr>
              <a:t>və ya</a:t>
            </a:r>
            <a:r>
              <a:rPr lang="en-US" sz="1400" i="0" u="none" strike="noStrike" cap="none">
                <a:solidFill>
                  <a:srgbClr val="E8ECF1"/>
                </a:solidFill>
              </a:rPr>
              <a:t> </a:t>
            </a:r>
            <a:r>
              <a:rPr lang="en-US">
                <a:solidFill>
                  <a:srgbClr val="E8ECF1"/>
                </a:solidFill>
              </a:rPr>
              <a:t>istənilən</a:t>
            </a:r>
            <a:r>
              <a:rPr lang="en-US" sz="1400" i="0" u="none" strike="noStrike" cap="none">
                <a:solidFill>
                  <a:srgbClr val="E8ECF1"/>
                </a:solidFill>
              </a:rPr>
              <a:t> editor</a:t>
            </a:r>
            <a:endParaRPr sz="1400" i="0" u="none" strike="noStrike" cap="none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8ECF1"/>
              </a:buClr>
              <a:buSzPts val="1400"/>
              <a:buChar char="•"/>
            </a:pPr>
            <a:r>
              <a:rPr lang="en-US" sz="1400" i="0" u="none" strike="noStrike" cap="none">
                <a:solidFill>
                  <a:srgbClr val="E8ECF1"/>
                </a:solidFill>
              </a:rPr>
              <a:t>Terminal / Command Line</a:t>
            </a:r>
            <a:endParaRPr sz="14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754880" y="1188720"/>
            <a:ext cx="3749100" cy="29262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754880" y="1188720"/>
            <a:ext cx="3749100" cy="5490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0" y="1508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/>
          <p:nvPr/>
        </p:nvSpPr>
        <p:spPr>
          <a:xfrm>
            <a:off x="5669280" y="1508760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</a:rPr>
              <a:t>Sürətli</a:t>
            </a:r>
            <a:r>
              <a:rPr lang="en-US" sz="1800" b="1" i="0" u="none" strike="noStrike" cap="none">
                <a:solidFill>
                  <a:srgbClr val="FFFFFF"/>
                </a:solidFill>
              </a:rPr>
              <a:t> Tanışlıq (Icebreaker)</a:t>
            </a:r>
            <a:endParaRPr sz="1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120640" y="2240280"/>
            <a:ext cx="3017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400"/>
              <a:buChar char="•"/>
            </a:pPr>
            <a:r>
              <a:rPr lang="en-US">
                <a:solidFill>
                  <a:srgbClr val="E8ECF1"/>
                </a:solidFill>
              </a:rPr>
              <a:t>Adınız</a:t>
            </a:r>
            <a:r>
              <a:rPr lang="en-US" sz="1400" i="0" u="none" strike="noStrike" cap="none">
                <a:solidFill>
                  <a:srgbClr val="E8ECF1"/>
                </a:solidFill>
              </a:rPr>
              <a:t> &amp; </a:t>
            </a:r>
            <a:r>
              <a:rPr lang="en-US">
                <a:solidFill>
                  <a:srgbClr val="E8ECF1"/>
                </a:solidFill>
              </a:rPr>
              <a:t>haqqınızda</a:t>
            </a:r>
            <a:endParaRPr sz="1400" i="0" u="none" strike="noStrike" cap="none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8ECF1"/>
              </a:buClr>
              <a:buSzPts val="1400"/>
              <a:buChar char="•"/>
            </a:pPr>
            <a:r>
              <a:rPr lang="en-US">
                <a:solidFill>
                  <a:srgbClr val="E8ECF1"/>
                </a:solidFill>
              </a:rPr>
              <a:t>Nəyi prototipləşdirmək istəyirsiniz</a:t>
            </a:r>
            <a:endParaRPr sz="1400" i="0" u="none" strike="noStrike" cap="none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8ECF1"/>
              </a:buClr>
              <a:buSzPts val="1400"/>
              <a:buChar char="•"/>
            </a:pPr>
            <a:r>
              <a:rPr lang="en-US">
                <a:solidFill>
                  <a:srgbClr val="E8ECF1"/>
                </a:solidFill>
              </a:rPr>
              <a:t>Sevimli atışdırmalıq </a:t>
            </a:r>
            <a:r>
              <a:rPr lang="en-US" sz="1400" i="0" u="none" strike="noStrike" cap="none">
                <a:solidFill>
                  <a:srgbClr val="E8ECF1"/>
                </a:solidFill>
              </a:rPr>
              <a:t>(</a:t>
            </a:r>
            <a:r>
              <a:rPr lang="en-US">
                <a:solidFill>
                  <a:srgbClr val="E8ECF1"/>
                </a:solidFill>
              </a:rPr>
              <a:t>vacibdir</a:t>
            </a:r>
            <a:r>
              <a:rPr lang="en-US" sz="1400" i="0" u="none" strike="noStrike" cap="none">
                <a:solidFill>
                  <a:srgbClr val="E8ECF1"/>
                </a:solidFill>
              </a:rPr>
              <a:t>!)</a:t>
            </a:r>
            <a:endParaRPr sz="14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40080" y="4434840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i="1">
                <a:solidFill>
                  <a:srgbClr val="FFD43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💡 Tip: Terminal açıb  python --version  yazaraq quraşdırmanı yoxlayın</a:t>
            </a:r>
            <a:endParaRPr sz="900" i="1">
              <a:solidFill>
                <a:srgbClr val="FFD43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1280160" y="3200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3600"/>
              <a:buFont typeface="Trebuchet MS"/>
              <a:buNone/>
            </a:pPr>
            <a:r>
              <a:rPr lang="en-US" sz="3600" b="1">
                <a:solidFill>
                  <a:srgbClr val="A78BFA"/>
                </a:solidFill>
              </a:rPr>
              <a:t>Alqoritm nədir</a:t>
            </a:r>
            <a:r>
              <a:rPr lang="en-US" sz="3600" b="1" i="0" u="none" strike="noStrike" cap="none">
                <a:solidFill>
                  <a:srgbClr val="A78BFA"/>
                </a:solidFill>
              </a:rPr>
              <a:t>?</a:t>
            </a:r>
            <a:endParaRPr sz="36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40080" y="1097280"/>
            <a:ext cx="54864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05850" y="1097275"/>
            <a:ext cx="733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E8EC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Məsələlərin addım-addım həll edilmə və ya tapşırığın icra edilmə ardıcıllığıdır.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40080" y="2331720"/>
            <a:ext cx="2560320" cy="22860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0200" y="2606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34D399"/>
                </a:solidFill>
              </a:rPr>
              <a:t>Sonlu</a:t>
            </a:r>
            <a:endParaRPr sz="1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22960" y="36576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</a:rPr>
              <a:t>Müəyyən edilmiş addımlardan sonra mütləq sonlanmalıdır</a:t>
            </a:r>
            <a:endParaRPr sz="1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429000" y="2331720"/>
            <a:ext cx="2560320" cy="22860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9120" y="2606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3611880" y="3246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D43B"/>
                </a:solidFill>
              </a:rPr>
              <a:t>Dəqiq</a:t>
            </a:r>
            <a:endParaRPr sz="1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611880" y="36576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</a:rPr>
              <a:t>Hər addım aydın olmaldır və birmənalı təyin edilməlidir</a:t>
            </a:r>
            <a:endParaRPr sz="1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217920" y="2331720"/>
            <a:ext cx="2560320" cy="22860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78040" y="2606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6400800" y="3246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4B8BF5"/>
                </a:solidFill>
              </a:rPr>
              <a:t>Effektiv</a:t>
            </a:r>
            <a:endParaRPr sz="1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400800" y="36576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</a:rPr>
              <a:t>Verilən təlimatlara uyğun nəticə verməldir</a:t>
            </a:r>
            <a:endParaRPr sz="1200" i="0" u="none" strike="noStrike" cap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405" y="36579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/>
          <p:nvPr/>
        </p:nvSpPr>
        <p:spPr>
          <a:xfrm>
            <a:off x="914400" y="320050"/>
            <a:ext cx="7389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2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34D399"/>
                </a:solidFill>
              </a:rPr>
              <a:t>Python </a:t>
            </a:r>
            <a:r>
              <a:rPr lang="en-US" sz="2800" b="1">
                <a:solidFill>
                  <a:srgbClr val="34D399"/>
                </a:solidFill>
              </a:rPr>
              <a:t>əsasları –</a:t>
            </a:r>
            <a:r>
              <a:rPr lang="en-US" sz="2800" b="1" i="0" u="none" strike="noStrike" cap="none">
                <a:solidFill>
                  <a:srgbClr val="34D399"/>
                </a:solidFill>
              </a:rPr>
              <a:t> </a:t>
            </a:r>
            <a:r>
              <a:rPr lang="en-US" sz="2800" b="1">
                <a:solidFill>
                  <a:srgbClr val="34D399"/>
                </a:solidFill>
              </a:rPr>
              <a:t>Dəyişənlər</a:t>
            </a:r>
            <a:r>
              <a:rPr lang="en-US" sz="2800" b="1" i="0" u="none" strike="noStrike" cap="none">
                <a:solidFill>
                  <a:srgbClr val="34D399"/>
                </a:solidFill>
              </a:rPr>
              <a:t> &amp; </a:t>
            </a:r>
            <a:r>
              <a:rPr lang="en-US" sz="2800" b="1">
                <a:solidFill>
                  <a:srgbClr val="34D399"/>
                </a:solidFill>
              </a:rPr>
              <a:t>D</a:t>
            </a:r>
            <a:r>
              <a:rPr lang="en-US" sz="2800" b="1" i="0" u="none" strike="noStrike" cap="none">
                <a:solidFill>
                  <a:srgbClr val="34D399"/>
                </a:solidFill>
              </a:rPr>
              <a:t>ata </a:t>
            </a:r>
            <a:r>
              <a:rPr lang="en-US" sz="2800" b="1">
                <a:solidFill>
                  <a:srgbClr val="34D399"/>
                </a:solidFill>
              </a:rPr>
              <a:t>Tipləri</a:t>
            </a:r>
            <a:endParaRPr sz="2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40080" y="1097280"/>
            <a:ext cx="4846320" cy="32918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40080" y="1097280"/>
            <a:ext cx="4846320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914400" y="11155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variables.py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14400" y="1508760"/>
            <a:ext cx="43891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</a:t>
            </a:r>
            <a:r>
              <a:rPr lang="en-US" sz="1200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Rəqəmlər (Numbers)</a:t>
            </a: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 = 25</a:t>
            </a: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temperature = 36.6</a:t>
            </a: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Sətirlər (Strings)</a:t>
            </a: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 = "PyWeek"</a:t>
            </a: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greeting = f"</a:t>
            </a:r>
            <a:r>
              <a:rPr lang="en-US" sz="12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{name}-ə xoş gəlmisiniz</a:t>
            </a:r>
            <a:r>
              <a:rPr lang="en-US" sz="12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!"</a:t>
            </a: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Siyahılar (Lists)</a:t>
            </a: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scores = [95, 87, 92, 78]</a:t>
            </a: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average = sum(scores) / len(scores)</a:t>
            </a: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</a:t>
            </a:r>
            <a:r>
              <a:rPr lang="en-US" sz="1200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İkili </a:t>
            </a:r>
            <a:r>
              <a:rPr lang="en-US" sz="12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(Booleans)</a:t>
            </a: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onsolas"/>
              <a:buNone/>
            </a:pPr>
            <a:r>
              <a:rPr lang="en-US" sz="12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is_beginner = True</a:t>
            </a:r>
            <a:endParaRPr sz="12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852160" y="10972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Əsas Data Tipləri</a:t>
            </a:r>
            <a:endParaRPr sz="16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852160" y="1691640"/>
            <a:ext cx="2834640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852160" y="1691640"/>
            <a:ext cx="54864" cy="438912"/>
          </a:xfrm>
          <a:prstGeom prst="rect">
            <a:avLst/>
          </a:prstGeom>
          <a:solidFill>
            <a:srgbClr val="4B8B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080760" y="1691640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4B8BF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858000" y="169164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25, -3, 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852160" y="2240280"/>
            <a:ext cx="2834640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852160" y="2240280"/>
            <a:ext cx="54864" cy="43891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080760" y="2240280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B923C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858000" y="224028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3.14, 36.6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852160" y="2788920"/>
            <a:ext cx="2834640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852160" y="2788920"/>
            <a:ext cx="54864" cy="4389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080760" y="2788920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858000" y="278892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"hello", "PyWeek"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852160" y="3337560"/>
            <a:ext cx="2834640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852160" y="3337560"/>
            <a:ext cx="54864" cy="43891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080760" y="3337560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6858000" y="333756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[1, 2, 3]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852160" y="3886200"/>
            <a:ext cx="2834640" cy="43891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852160" y="3886200"/>
            <a:ext cx="54864" cy="43891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6080760" y="3886200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FD43B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858000" y="388620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True, False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dba6c06f64_0_25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dba6c06f64_0_258"/>
          <p:cNvSpPr/>
          <p:nvPr/>
        </p:nvSpPr>
        <p:spPr>
          <a:xfrm>
            <a:off x="1280148" y="320050"/>
            <a:ext cx="7446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2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Python əsasları – Döngülər &amp; Şərtlər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dba6c06f64_0_258"/>
          <p:cNvSpPr/>
          <p:nvPr/>
        </p:nvSpPr>
        <p:spPr>
          <a:xfrm>
            <a:off x="640080" y="1097280"/>
            <a:ext cx="3931800" cy="18288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8" name="Google Shape;178;g3dba6c06f64_0_258"/>
          <p:cNvSpPr/>
          <p:nvPr/>
        </p:nvSpPr>
        <p:spPr>
          <a:xfrm>
            <a:off x="640080" y="1097280"/>
            <a:ext cx="3931800" cy="320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9" name="Google Shape;179;g3dba6c06f64_0_258"/>
          <p:cNvSpPr/>
          <p:nvPr/>
        </p:nvSpPr>
        <p:spPr>
          <a:xfrm>
            <a:off x="914400" y="1115568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for_loops.py</a:t>
            </a:r>
            <a:endParaRPr sz="10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0" name="Google Shape;180;g3dba6c06f64_0_258"/>
          <p:cNvSpPr/>
          <p:nvPr/>
        </p:nvSpPr>
        <p:spPr>
          <a:xfrm>
            <a:off x="914400" y="1508750"/>
            <a:ext cx="3576000" cy="13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Siyahı üzərindən döngü (Iterate over a list)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meyveler = ["</a:t>
            </a: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alma</a:t>
            </a: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", "</a:t>
            </a: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gilas</a:t>
            </a: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", "</a:t>
            </a: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nar</a:t>
            </a: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"]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meyve in meyveler: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print(meyve)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</a:t>
            </a:r>
            <a:r>
              <a:rPr lang="en-US" sz="900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Range ilə döngü</a:t>
            </a:r>
            <a:r>
              <a:rPr lang="en-US" sz="900" b="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(Range-based loop)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i in range(5):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print(i)  # 0, 1, 2, 3, 4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1" name="Google Shape;181;g3dba6c06f64_0_258"/>
          <p:cNvSpPr/>
          <p:nvPr/>
        </p:nvSpPr>
        <p:spPr>
          <a:xfrm>
            <a:off x="4846320" y="1097280"/>
            <a:ext cx="3931800" cy="18288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2" name="Google Shape;182;g3dba6c06f64_0_258"/>
          <p:cNvSpPr/>
          <p:nvPr/>
        </p:nvSpPr>
        <p:spPr>
          <a:xfrm>
            <a:off x="4846320" y="1097280"/>
            <a:ext cx="3931800" cy="320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3" name="Google Shape;183;g3dba6c06f64_0_258"/>
          <p:cNvSpPr/>
          <p:nvPr/>
        </p:nvSpPr>
        <p:spPr>
          <a:xfrm>
            <a:off x="5120640" y="1115568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conditionals.py</a:t>
            </a:r>
            <a:endParaRPr sz="10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4" name="Google Shape;184;g3dba6c06f64_0_258"/>
          <p:cNvSpPr/>
          <p:nvPr/>
        </p:nvSpPr>
        <p:spPr>
          <a:xfrm>
            <a:off x="5120640" y="1508760"/>
            <a:ext cx="3474600" cy="13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nətice = 85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nətice &gt;= 90: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qiymet = "A"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 nətice &gt;= 80: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qiymet = "B"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qiymet = "C"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5" name="Google Shape;185;g3dba6c06f64_0_258"/>
          <p:cNvSpPr/>
          <p:nvPr/>
        </p:nvSpPr>
        <p:spPr>
          <a:xfrm>
            <a:off x="640080" y="3200400"/>
            <a:ext cx="3931800" cy="15546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6" name="Google Shape;186;g3dba6c06f64_0_258"/>
          <p:cNvSpPr/>
          <p:nvPr/>
        </p:nvSpPr>
        <p:spPr>
          <a:xfrm>
            <a:off x="640080" y="3200400"/>
            <a:ext cx="3931800" cy="320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7" name="Google Shape;187;g3dba6c06f64_0_258"/>
          <p:cNvSpPr/>
          <p:nvPr/>
        </p:nvSpPr>
        <p:spPr>
          <a:xfrm>
            <a:off x="914400" y="3218688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while_loop.py</a:t>
            </a:r>
            <a:endParaRPr sz="10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8" name="Google Shape;188;g3dba6c06f64_0_258"/>
          <p:cNvSpPr/>
          <p:nvPr/>
        </p:nvSpPr>
        <p:spPr>
          <a:xfrm>
            <a:off x="914400" y="3611880"/>
            <a:ext cx="34746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say = 0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 say &lt; 3: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print(f"Say: {say}")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say += 1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9" name="Google Shape;189;g3dba6c06f64_0_258"/>
          <p:cNvSpPr/>
          <p:nvPr/>
        </p:nvSpPr>
        <p:spPr>
          <a:xfrm>
            <a:off x="4846320" y="3200400"/>
            <a:ext cx="3931800" cy="15546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0" name="Google Shape;190;g3dba6c06f64_0_258"/>
          <p:cNvSpPr/>
          <p:nvPr/>
        </p:nvSpPr>
        <p:spPr>
          <a:xfrm>
            <a:off x="4846320" y="3200400"/>
            <a:ext cx="3931800" cy="320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1" name="Google Shape;191;g3dba6c06f64_0_258"/>
          <p:cNvSpPr/>
          <p:nvPr/>
        </p:nvSpPr>
        <p:spPr>
          <a:xfrm>
            <a:off x="5120640" y="3218688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functions.py</a:t>
            </a:r>
            <a:endParaRPr sz="10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2" name="Google Shape;192;g3dba6c06f64_0_258"/>
          <p:cNvSpPr/>
          <p:nvPr/>
        </p:nvSpPr>
        <p:spPr>
          <a:xfrm>
            <a:off x="5120640" y="3611880"/>
            <a:ext cx="34746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salamlama(ad):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return f"Salam, {ad}!"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mesaj = salamlama("PyWeek")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print(mesaj)</a:t>
            </a:r>
            <a:endParaRPr sz="900" b="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ba6c06f64_0_383"/>
          <p:cNvSpPr/>
          <p:nvPr/>
        </p:nvSpPr>
        <p:spPr>
          <a:xfrm>
            <a:off x="640080" y="32004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3600"/>
              <a:buFont typeface="Trebuchet MS"/>
              <a:buNone/>
            </a:pPr>
            <a:r>
              <a:rPr lang="en-US" sz="3600" b="1">
                <a:solidFill>
                  <a:srgbClr val="FFD43B"/>
                </a:solidFill>
              </a:rPr>
              <a:t>Günün planı</a:t>
            </a:r>
            <a:endParaRPr sz="3600" b="1">
              <a:solidFill>
                <a:srgbClr val="FFD43B"/>
              </a:solidFill>
            </a:endParaRPr>
          </a:p>
        </p:txBody>
      </p:sp>
      <p:sp>
        <p:nvSpPr>
          <p:cNvPr id="199" name="Google Shape;199;g3dba6c06f64_0_383"/>
          <p:cNvSpPr/>
          <p:nvPr/>
        </p:nvSpPr>
        <p:spPr>
          <a:xfrm>
            <a:off x="457200" y="116128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g3dba6c06f64_0_38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261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dba6c06f64_0_383"/>
          <p:cNvSpPr/>
          <p:nvPr/>
        </p:nvSpPr>
        <p:spPr>
          <a:xfrm>
            <a:off x="1188720" y="11887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0:00 – 0:30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dba6c06f64_0_383"/>
          <p:cNvSpPr/>
          <p:nvPr/>
        </p:nvSpPr>
        <p:spPr>
          <a:xfrm>
            <a:off x="2743200" y="118872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Giriş &amp; Quraşdırma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dba6c06f64_0_383"/>
          <p:cNvSpPr/>
          <p:nvPr/>
        </p:nvSpPr>
        <p:spPr>
          <a:xfrm>
            <a:off x="5029200" y="118872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</a:rPr>
              <a:t>Tanışlıq, </a:t>
            </a: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Giriş, </a:t>
            </a:r>
            <a:r>
              <a:rPr lang="en-US" sz="1200">
                <a:solidFill>
                  <a:srgbClr val="8899AA"/>
                </a:solidFill>
              </a:rPr>
              <a:t>Y</a:t>
            </a: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ükləmələr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3dba6c06f64_0_38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18562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dba6c06f64_0_383"/>
          <p:cNvSpPr/>
          <p:nvPr/>
        </p:nvSpPr>
        <p:spPr>
          <a:xfrm>
            <a:off x="1188720" y="178308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0:30 – 1:10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dba6c06f64_0_383"/>
          <p:cNvSpPr/>
          <p:nvPr/>
        </p:nvSpPr>
        <p:spPr>
          <a:xfrm>
            <a:off x="2743200" y="178308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Python-un əsasları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dba6c06f64_0_383"/>
          <p:cNvSpPr/>
          <p:nvPr/>
        </p:nvSpPr>
        <p:spPr>
          <a:xfrm>
            <a:off x="5029200" y="178308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</a:rPr>
              <a:t>Dəyişənlər</a:t>
            </a: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, döngülər, şərtlər, funksiyalar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dba6c06f64_0_383"/>
          <p:cNvSpPr/>
          <p:nvPr/>
        </p:nvSpPr>
        <p:spPr>
          <a:xfrm>
            <a:off x="457200" y="235000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g3dba6c06f64_0_38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245059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dba6c06f64_0_383"/>
          <p:cNvSpPr/>
          <p:nvPr/>
        </p:nvSpPr>
        <p:spPr>
          <a:xfrm>
            <a:off x="1188720" y="237744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1:10 – 1:20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dba6c06f64_0_383"/>
          <p:cNvSpPr/>
          <p:nvPr/>
        </p:nvSpPr>
        <p:spPr>
          <a:xfrm>
            <a:off x="2743200" y="237744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Fasilə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dba6c06f64_0_383"/>
          <p:cNvSpPr/>
          <p:nvPr/>
        </p:nvSpPr>
        <p:spPr>
          <a:xfrm>
            <a:off x="5029200" y="237744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Fasilə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3dba6c06f64_0_38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dba6c06f64_0_383"/>
          <p:cNvSpPr/>
          <p:nvPr/>
        </p:nvSpPr>
        <p:spPr>
          <a:xfrm>
            <a:off x="1188720" y="297180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1:20 – 1:50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dba6c06f64_0_383"/>
          <p:cNvSpPr/>
          <p:nvPr/>
        </p:nvSpPr>
        <p:spPr>
          <a:xfrm>
            <a:off x="2743200" y="297180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Lüğətlər &amp; Data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dba6c06f64_0_383"/>
          <p:cNvSpPr/>
          <p:nvPr/>
        </p:nvSpPr>
        <p:spPr>
          <a:xfrm>
            <a:off x="5029200" y="2971800"/>
            <a:ext cx="3657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99AA"/>
                </a:solidFill>
              </a:rPr>
              <a:t>Açar-dəyər, fayllar, CSV, NumPy, Pandas, Matplotlib</a:t>
            </a:r>
            <a:endParaRPr sz="1200">
              <a:solidFill>
                <a:srgbClr val="8899AA"/>
              </a:solidFill>
            </a:endParaRPr>
          </a:p>
        </p:txBody>
      </p:sp>
      <p:sp>
        <p:nvSpPr>
          <p:cNvPr id="217" name="Google Shape;217;g3dba6c06f64_0_383"/>
          <p:cNvSpPr/>
          <p:nvPr/>
        </p:nvSpPr>
        <p:spPr>
          <a:xfrm>
            <a:off x="457200" y="353872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g3dba6c06f64_0_38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080" y="36393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dba6c06f64_0_383"/>
          <p:cNvSpPr/>
          <p:nvPr/>
        </p:nvSpPr>
        <p:spPr>
          <a:xfrm>
            <a:off x="1188720" y="356616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1:50 – 2:10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dba6c06f64_0_383"/>
          <p:cNvSpPr/>
          <p:nvPr/>
        </p:nvSpPr>
        <p:spPr>
          <a:xfrm>
            <a:off x="2743200" y="356616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Kiçik Challenge’lər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dba6c06f64_0_383"/>
          <p:cNvSpPr/>
          <p:nvPr/>
        </p:nvSpPr>
        <p:spPr>
          <a:xfrm>
            <a:off x="5029200" y="356616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Python-da kiçik tapşırıqların həlli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g3dba6c06f64_0_38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0080" y="42336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dba6c06f64_0_383"/>
          <p:cNvSpPr/>
          <p:nvPr/>
        </p:nvSpPr>
        <p:spPr>
          <a:xfrm>
            <a:off x="1188720" y="41605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2:10 – 2:30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dba6c06f64_0_383"/>
          <p:cNvSpPr/>
          <p:nvPr/>
        </p:nvSpPr>
        <p:spPr>
          <a:xfrm>
            <a:off x="2743200" y="416052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Yekun &amp; icmal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dba6c06f64_0_383"/>
          <p:cNvSpPr/>
          <p:nvPr/>
        </p:nvSpPr>
        <p:spPr>
          <a:xfrm>
            <a:off x="5029200" y="416052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Növbəti günlərdə ediləcəklərin izahı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"/>
          <p:cNvSpPr/>
          <p:nvPr/>
        </p:nvSpPr>
        <p:spPr>
          <a:xfrm>
            <a:off x="1280150" y="320050"/>
            <a:ext cx="7581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3200"/>
              <a:buFont typeface="Trebuchet MS"/>
              <a:buNone/>
            </a:pPr>
            <a:r>
              <a:rPr lang="en-US" sz="2800" b="1">
                <a:solidFill>
                  <a:srgbClr val="4B8BF5"/>
                </a:solidFill>
              </a:rPr>
              <a:t>Lüğətlər (</a:t>
            </a:r>
            <a:r>
              <a:rPr lang="en-US" sz="2800" b="1" i="0" u="none" strike="noStrike" cap="none">
                <a:solidFill>
                  <a:srgbClr val="4B8BF5"/>
                </a:solidFill>
              </a:rPr>
              <a:t>Dictionaries)</a:t>
            </a:r>
            <a:r>
              <a:rPr lang="en-US" sz="2800" b="1">
                <a:solidFill>
                  <a:srgbClr val="4B8BF5"/>
                </a:solidFill>
              </a:rPr>
              <a:t> –</a:t>
            </a:r>
            <a:r>
              <a:rPr lang="en-US" sz="2800" b="1" i="0" u="none" strike="noStrike" cap="none">
                <a:solidFill>
                  <a:srgbClr val="4B8BF5"/>
                </a:solidFill>
              </a:rPr>
              <a:t> </a:t>
            </a:r>
            <a:r>
              <a:rPr lang="en-US" sz="2800" b="1">
                <a:solidFill>
                  <a:srgbClr val="4B8BF5"/>
                </a:solidFill>
              </a:rPr>
              <a:t>Açar</a:t>
            </a:r>
            <a:r>
              <a:rPr lang="en-US" sz="2800" b="1" i="0" u="none" strike="noStrike" cap="none">
                <a:solidFill>
                  <a:srgbClr val="4B8BF5"/>
                </a:solidFill>
              </a:rPr>
              <a:t>-</a:t>
            </a:r>
            <a:r>
              <a:rPr lang="en-US" sz="2800" b="1">
                <a:solidFill>
                  <a:srgbClr val="4B8BF5"/>
                </a:solidFill>
              </a:rPr>
              <a:t>Dəyər cütləri</a:t>
            </a:r>
            <a:endParaRPr sz="2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40080" y="1097280"/>
            <a:ext cx="4846320" cy="347472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40080" y="1097280"/>
            <a:ext cx="4846320" cy="320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914400" y="11155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dictionaries.py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914400" y="1508760"/>
            <a:ext cx="43890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9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Lüğət </a:t>
            </a:r>
            <a:r>
              <a:rPr lang="en-US" sz="900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yarat (</a:t>
            </a:r>
            <a:r>
              <a:rPr lang="en-US" sz="9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Create a dictionary)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</a:t>
            </a: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{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"</a:t>
            </a: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</a:t>
            </a: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": "BRCA1",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"</a:t>
            </a: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xromosom</a:t>
            </a: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": 17,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"</a:t>
            </a: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uzunluq</a:t>
            </a: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": 81189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9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Verilənlərin </a:t>
            </a:r>
            <a:r>
              <a:rPr lang="en-US" sz="900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</a:t>
            </a:r>
            <a:r>
              <a:rPr lang="en-US" sz="9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ə</a:t>
            </a:r>
            <a:r>
              <a:rPr lang="en-US" sz="900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yərlərinə əlçatmaq (Access values)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</a:t>
            </a: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</a:t>
            </a: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["</a:t>
            </a: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</a:t>
            </a: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"])  # BRCA1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9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</a:t>
            </a:r>
            <a:r>
              <a:rPr lang="en-US" sz="900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Üzərinə əlavə et / Yenilə (</a:t>
            </a:r>
            <a:r>
              <a:rPr lang="en-US" sz="9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Add / update)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</a:t>
            </a: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["</a:t>
            </a: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funksiyasi</a:t>
            </a: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"] = "DNA repair"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9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</a:t>
            </a:r>
            <a:r>
              <a:rPr lang="en-US" sz="900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Açarlar və dəyərlər üzərindən döngü aparmaq (</a:t>
            </a:r>
            <a:r>
              <a:rPr lang="en-US" sz="9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Loop through keys &amp; values)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key, val in </a:t>
            </a: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</a:t>
            </a: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.items():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print(f"{key}: {val}")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852160" y="1097280"/>
            <a:ext cx="2926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</a:rPr>
              <a:t>Lüğətləri (</a:t>
            </a:r>
            <a:r>
              <a:rPr lang="en-US" sz="1300" b="1" i="0" u="none" strike="noStrike" cap="none">
                <a:solidFill>
                  <a:srgbClr val="FFFFFF"/>
                </a:solidFill>
              </a:rPr>
              <a:t>Dicts) nə zaman işlə</a:t>
            </a:r>
            <a:r>
              <a:rPr lang="en-US" sz="1300" b="1">
                <a:solidFill>
                  <a:srgbClr val="FFFFFF"/>
                </a:solidFill>
              </a:rPr>
              <a:t>tməli?</a:t>
            </a:r>
            <a:endParaRPr sz="13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5852160" y="1691640"/>
            <a:ext cx="2834640" cy="5486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852160" y="1691640"/>
            <a:ext cx="54864" cy="548640"/>
          </a:xfrm>
          <a:prstGeom prst="rect">
            <a:avLst/>
          </a:prstGeom>
          <a:solidFill>
            <a:srgbClr val="4B8B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080760" y="17099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4B8BF5"/>
                </a:solidFill>
              </a:rPr>
              <a:t>Metadata-nı saxlamaq</a:t>
            </a:r>
            <a:endParaRPr sz="13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080760" y="19659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</a:rPr>
              <a:t>Genetik</a:t>
            </a:r>
            <a:r>
              <a:rPr lang="en-US" sz="1000" i="0" u="none" strike="noStrike" cap="none">
                <a:solidFill>
                  <a:srgbClr val="8899AA"/>
                </a:solidFill>
              </a:rPr>
              <a:t> info, e</a:t>
            </a:r>
            <a:r>
              <a:rPr lang="en-US" sz="1000">
                <a:solidFill>
                  <a:srgbClr val="8899AA"/>
                </a:solidFill>
              </a:rPr>
              <a:t>ks</a:t>
            </a:r>
            <a:r>
              <a:rPr lang="en-US" sz="1000" i="0" u="none" strike="noStrike" cap="none">
                <a:solidFill>
                  <a:srgbClr val="8899AA"/>
                </a:solidFill>
              </a:rPr>
              <a:t>periment </a:t>
            </a:r>
            <a:r>
              <a:rPr lang="en-US" sz="1000">
                <a:solidFill>
                  <a:srgbClr val="8899AA"/>
                </a:solidFill>
              </a:rPr>
              <a:t>parametrləri</a:t>
            </a:r>
            <a:endParaRPr sz="10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852160" y="2377440"/>
            <a:ext cx="2834640" cy="5486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852160" y="2377440"/>
            <a:ext cx="54864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080760" y="2395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4D399"/>
                </a:solidFill>
              </a:rPr>
              <a:t>Saymaq</a:t>
            </a:r>
            <a:endParaRPr sz="13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080760" y="26517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</a:rPr>
              <a:t>Sözün tezliyini</a:t>
            </a:r>
            <a:r>
              <a:rPr lang="en-US" sz="1000" i="0" u="none" strike="noStrike" cap="none">
                <a:solidFill>
                  <a:srgbClr val="8899AA"/>
                </a:solidFill>
              </a:rPr>
              <a:t>, nu</a:t>
            </a:r>
            <a:r>
              <a:rPr lang="en-US" sz="1000">
                <a:solidFill>
                  <a:srgbClr val="8899AA"/>
                </a:solidFill>
              </a:rPr>
              <a:t>k</a:t>
            </a:r>
            <a:r>
              <a:rPr lang="en-US" sz="1000" i="0" u="none" strike="noStrike" cap="none">
                <a:solidFill>
                  <a:srgbClr val="8899AA"/>
                </a:solidFill>
              </a:rPr>
              <a:t>leotid </a:t>
            </a:r>
            <a:r>
              <a:rPr lang="en-US" sz="1000">
                <a:solidFill>
                  <a:srgbClr val="8899AA"/>
                </a:solidFill>
              </a:rPr>
              <a:t>sayını</a:t>
            </a:r>
            <a:endParaRPr sz="10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852160" y="3063240"/>
            <a:ext cx="2834640" cy="5486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852160" y="3063240"/>
            <a:ext cx="54864" cy="5486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080760" y="30815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B923C"/>
                </a:solidFill>
              </a:rPr>
              <a:t>Əlaqələri xəritələşdirmək</a:t>
            </a:r>
            <a:endParaRPr sz="13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080760" y="33375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</a:rPr>
              <a:t>Növlərin</a:t>
            </a:r>
            <a:r>
              <a:rPr lang="en-US" sz="1000" i="0" u="none" strike="noStrike" cap="none">
                <a:solidFill>
                  <a:srgbClr val="8899AA"/>
                </a:solidFill>
              </a:rPr>
              <a:t> </a:t>
            </a:r>
            <a:r>
              <a:rPr lang="en-US" sz="1000">
                <a:solidFill>
                  <a:srgbClr val="8899AA"/>
                </a:solidFill>
              </a:rPr>
              <a:t>mühitlə</a:t>
            </a:r>
            <a:r>
              <a:rPr lang="en-US" sz="1000" i="0" u="none" strike="noStrike" cap="none">
                <a:solidFill>
                  <a:srgbClr val="8899AA"/>
                </a:solidFill>
              </a:rPr>
              <a:t>, ID-in </a:t>
            </a:r>
            <a:r>
              <a:rPr lang="en-US" sz="1000">
                <a:solidFill>
                  <a:srgbClr val="8899AA"/>
                </a:solidFill>
              </a:rPr>
              <a:t>adla</a:t>
            </a:r>
            <a:endParaRPr sz="10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5852160" y="3749040"/>
            <a:ext cx="2834640" cy="5486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852160" y="3749040"/>
            <a:ext cx="54864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080760" y="3767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rgbClr val="A78BFA"/>
                </a:solidFill>
              </a:rPr>
              <a:t>Konfiqurasiya</a:t>
            </a:r>
            <a:endParaRPr sz="1300" b="1">
              <a:solidFill>
                <a:srgbClr val="A78BFA"/>
              </a:solidFill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080760" y="40233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8899AA"/>
                </a:solidFill>
              </a:rPr>
              <a:t>Analiz üçün parametrlər</a:t>
            </a:r>
            <a:endParaRPr sz="1000">
              <a:solidFill>
                <a:srgbClr val="8899AA"/>
              </a:solidFill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200"/>
              <a:buFont typeface="Consolas"/>
              <a:buNone/>
            </a:pPr>
            <a:r>
              <a:rPr lang="en-US" sz="1200" i="1" u="none" strike="noStrike" cap="none">
                <a:solidFill>
                  <a:srgbClr val="FFD4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💡 Lüğətlər (</a:t>
            </a:r>
            <a:r>
              <a:rPr lang="en-US" sz="1200" i="1">
                <a:solidFill>
                  <a:srgbClr val="FFD4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Dicts) elmdə hər yerdədir - onları data-larınız üçün etiketlənmiş konteynerlər kimi düşünün.</a:t>
            </a:r>
            <a:endParaRPr sz="1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/>
          <p:nvPr/>
        </p:nvSpPr>
        <p:spPr>
          <a:xfrm>
            <a:off x="1280160" y="3200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>
                <a:solidFill>
                  <a:srgbClr val="FB923C"/>
                </a:solidFill>
              </a:rPr>
              <a:t>Data ilə İş — Fayllar &amp; CSV</a:t>
            </a:r>
            <a:endParaRPr sz="3200" b="1">
              <a:solidFill>
                <a:srgbClr val="FB923C"/>
              </a:solidFill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40080" y="1005840"/>
            <a:ext cx="3931920" cy="192024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40080" y="1005840"/>
            <a:ext cx="393192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914400" y="11430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FB923C"/>
                </a:solidFill>
              </a:rPr>
              <a:t>Mətn Faylını Oxumaq</a:t>
            </a:r>
            <a:endParaRPr sz="1600" b="1">
              <a:solidFill>
                <a:srgbClr val="FB923C"/>
              </a:solidFill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822960" y="1554480"/>
            <a:ext cx="3566160" cy="118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960120" y="1627632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Bütün faylı oxumaq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open("data.txt") as f: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content = f.read()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Sətir-sətir oxumaq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open("data.txt") as f: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line in f: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print(line.strip())</a:t>
            </a:r>
            <a:endParaRPr sz="900">
              <a:solidFill>
                <a:srgbClr val="8899A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754880" y="1005840"/>
            <a:ext cx="3931920" cy="192024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029200" y="11430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34D399"/>
                </a:solidFill>
              </a:rPr>
              <a:t>CSV Faylını Oxumaq</a:t>
            </a:r>
            <a:endParaRPr sz="1600" b="1">
              <a:solidFill>
                <a:srgbClr val="34D399"/>
              </a:solidFill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937760" y="1554480"/>
            <a:ext cx="3566160" cy="118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074920" y="1627632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csv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open("samples.csv") as f: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reader = csv.DictReader(f)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row in reader: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print(row["species"])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print(row["count"])</a:t>
            </a:r>
            <a:endParaRPr sz="9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40080" y="3200400"/>
            <a:ext cx="8046720" cy="164592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40080" y="3200400"/>
            <a:ext cx="54864" cy="1645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914400" y="32735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Hamısını Birləşdirək — Dataset Analizi</a:t>
            </a:r>
            <a:endParaRPr sz="1500" b="1">
              <a:solidFill>
                <a:srgbClr val="A78B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914400" y="3657600"/>
            <a:ext cx="7589520" cy="1051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051560" y="3703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csv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counts = {}                              # növləri saymaq üçün lüğət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with open("observations.csv") as f: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for row in csv.DictReader(f):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species = row["species"]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counts[species] = counts.get(species, 0) + 1</a:t>
            </a:r>
            <a:endParaRPr sz="9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nsolas"/>
              <a:buNone/>
            </a:pPr>
            <a:r>
              <a:rPr lang="en-US" sz="9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print(counts)                            # {"Canavar": 12, "Qartal": 8, ...}</a:t>
            </a:r>
            <a:endParaRPr sz="900">
              <a:solidFill>
                <a:srgbClr val="34D3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g3dba6c06f64_0_54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dba6c06f64_0_545"/>
          <p:cNvSpPr/>
          <p:nvPr/>
        </p:nvSpPr>
        <p:spPr>
          <a:xfrm>
            <a:off x="1280160" y="32004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A78BFA"/>
                </a:solidFill>
              </a:rPr>
              <a:t>NumPy — Ədədi Hesablamalar</a:t>
            </a:r>
            <a:endParaRPr sz="3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284" name="Google Shape;284;g3dba6c06f64_0_545"/>
          <p:cNvSpPr/>
          <p:nvPr/>
        </p:nvSpPr>
        <p:spPr>
          <a:xfrm>
            <a:off x="640080" y="1005840"/>
            <a:ext cx="3931800" cy="36576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dba6c06f64_0_545"/>
          <p:cNvSpPr/>
          <p:nvPr/>
        </p:nvSpPr>
        <p:spPr>
          <a:xfrm>
            <a:off x="640080" y="1005840"/>
            <a:ext cx="3931800" cy="320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dba6c06f64_0_545"/>
          <p:cNvSpPr/>
          <p:nvPr/>
        </p:nvSpPr>
        <p:spPr>
          <a:xfrm>
            <a:off x="914400" y="1024128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numpy_basics.py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dba6c06f64_0_545"/>
          <p:cNvSpPr/>
          <p:nvPr/>
        </p:nvSpPr>
        <p:spPr>
          <a:xfrm>
            <a:off x="914400" y="1371600"/>
            <a:ext cx="34746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A78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numpy as np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Massiv yaratmaq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A78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= np.array([1, 2, 3, 4, 5])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A78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 = np.zeros(10)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A78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 = np.linspace(0, 1, 100)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Əməliyyatlar (elementwise)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A78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* 2)    # [2, 4, 6, 8, 10]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A78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print(a ** 2)   # [1, 4, 9, 16, 25]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Statistika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A78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print(np.mean(a))  # 3.0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A78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print(np.std(a))   # 1.41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A78B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print(np.max(a))   # 5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8" name="Google Shape;288;g3dba6c06f64_0_545"/>
          <p:cNvSpPr/>
          <p:nvPr/>
        </p:nvSpPr>
        <p:spPr>
          <a:xfrm>
            <a:off x="4937760" y="100584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Nə üçün NumPy?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dba6c06f64_0_545"/>
          <p:cNvSpPr/>
          <p:nvPr/>
        </p:nvSpPr>
        <p:spPr>
          <a:xfrm>
            <a:off x="4937760" y="1554480"/>
            <a:ext cx="3840600" cy="640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dba6c06f64_0_545"/>
          <p:cNvSpPr/>
          <p:nvPr/>
        </p:nvSpPr>
        <p:spPr>
          <a:xfrm>
            <a:off x="4937760" y="1554480"/>
            <a:ext cx="54900" cy="640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3dba6c06f64_0_545"/>
          <p:cNvSpPr/>
          <p:nvPr/>
        </p:nvSpPr>
        <p:spPr>
          <a:xfrm>
            <a:off x="5166360" y="1600200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Sürətli hesablamalar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dba6c06f64_0_545"/>
          <p:cNvSpPr/>
          <p:nvPr/>
        </p:nvSpPr>
        <p:spPr>
          <a:xfrm>
            <a:off x="5166360" y="1874520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Python siyahılarından 50x sürətli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dba6c06f64_0_545"/>
          <p:cNvSpPr/>
          <p:nvPr/>
        </p:nvSpPr>
        <p:spPr>
          <a:xfrm>
            <a:off x="4937760" y="2331720"/>
            <a:ext cx="3840600" cy="640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dba6c06f64_0_545"/>
          <p:cNvSpPr/>
          <p:nvPr/>
        </p:nvSpPr>
        <p:spPr>
          <a:xfrm>
            <a:off x="4937760" y="2331720"/>
            <a:ext cx="54900" cy="640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dba6c06f64_0_545"/>
          <p:cNvSpPr/>
          <p:nvPr/>
        </p:nvSpPr>
        <p:spPr>
          <a:xfrm>
            <a:off x="5166360" y="2377440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Elementwise əməliyyatlar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dba6c06f64_0_545"/>
          <p:cNvSpPr/>
          <p:nvPr/>
        </p:nvSpPr>
        <p:spPr>
          <a:xfrm>
            <a:off x="5166360" y="2651760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Döngü yazmadan bütün massivə tətbiq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dba6c06f64_0_545"/>
          <p:cNvSpPr/>
          <p:nvPr/>
        </p:nvSpPr>
        <p:spPr>
          <a:xfrm>
            <a:off x="4937760" y="3108960"/>
            <a:ext cx="3840600" cy="640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dba6c06f64_0_545"/>
          <p:cNvSpPr/>
          <p:nvPr/>
        </p:nvSpPr>
        <p:spPr>
          <a:xfrm>
            <a:off x="4937760" y="3108960"/>
            <a:ext cx="54900" cy="640200"/>
          </a:xfrm>
          <a:prstGeom prst="rect">
            <a:avLst/>
          </a:prstGeom>
          <a:solidFill>
            <a:srgbClr val="4B8B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3dba6c06f64_0_545"/>
          <p:cNvSpPr/>
          <p:nvPr/>
        </p:nvSpPr>
        <p:spPr>
          <a:xfrm>
            <a:off x="5166360" y="3154680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B8BF5"/>
                </a:solidFill>
                <a:latin typeface="Calibri"/>
                <a:ea typeface="Calibri"/>
                <a:cs typeface="Calibri"/>
                <a:sym typeface="Calibri"/>
              </a:rPr>
              <a:t>Elmi funksiyalar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dba6c06f64_0_545"/>
          <p:cNvSpPr/>
          <p:nvPr/>
        </p:nvSpPr>
        <p:spPr>
          <a:xfrm>
            <a:off x="5166360" y="3429000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sin, cos, log, exp, FFT, matris əməliyyatları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dba6c06f64_0_545"/>
          <p:cNvSpPr/>
          <p:nvPr/>
        </p:nvSpPr>
        <p:spPr>
          <a:xfrm>
            <a:off x="4937760" y="3886200"/>
            <a:ext cx="3840600" cy="640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dba6c06f64_0_545"/>
          <p:cNvSpPr/>
          <p:nvPr/>
        </p:nvSpPr>
        <p:spPr>
          <a:xfrm>
            <a:off x="4937760" y="3886200"/>
            <a:ext cx="54900" cy="640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dba6c06f64_0_545"/>
          <p:cNvSpPr/>
          <p:nvPr/>
        </p:nvSpPr>
        <p:spPr>
          <a:xfrm>
            <a:off x="5166360" y="3931920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Digər kitabxanaların əsası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dba6c06f64_0_545"/>
          <p:cNvSpPr/>
          <p:nvPr/>
        </p:nvSpPr>
        <p:spPr>
          <a:xfrm>
            <a:off x="5166360" y="4206240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Pandas, Matplotlib, SciPy hamısı NumPy üzərindədir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g3dba6c06f64_0_60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dba6c06f64_0_603"/>
          <p:cNvSpPr/>
          <p:nvPr/>
        </p:nvSpPr>
        <p:spPr>
          <a:xfrm>
            <a:off x="1280160" y="32004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4B8BF5"/>
                </a:solidFill>
              </a:rPr>
              <a:t>Pandas — Data Analizi</a:t>
            </a:r>
            <a:endParaRPr sz="3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12" name="Google Shape;312;g3dba6c06f64_0_603"/>
          <p:cNvSpPr/>
          <p:nvPr/>
        </p:nvSpPr>
        <p:spPr>
          <a:xfrm>
            <a:off x="640080" y="1005840"/>
            <a:ext cx="4572000" cy="38406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3dba6c06f64_0_603"/>
          <p:cNvSpPr/>
          <p:nvPr/>
        </p:nvSpPr>
        <p:spPr>
          <a:xfrm>
            <a:off x="640080" y="1005840"/>
            <a:ext cx="4572000" cy="320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3dba6c06f64_0_603"/>
          <p:cNvSpPr/>
          <p:nvPr/>
        </p:nvSpPr>
        <p:spPr>
          <a:xfrm>
            <a:off x="914400" y="1024128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pandas_basics.py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dba6c06f64_0_603"/>
          <p:cNvSpPr/>
          <p:nvPr/>
        </p:nvSpPr>
        <p:spPr>
          <a:xfrm>
            <a:off x="914400" y="1371600"/>
            <a:ext cx="4114800" cy="3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4B8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pandas as pd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CSV oxumaq (bir sətirdə!)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4B8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 = pd.read_csv("observations.csv")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İlk sətirləri görmək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4B8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print(df.head())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Əsas statistika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4B8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print(df.describe())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Sütun üzrə filtrlə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4B8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daglar = df[df["region"] == "Dağlıq"]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Qruplama &amp; sayma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4B8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nəticə = df.groupby("species")["count"]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1000"/>
              <a:buFont typeface="Consolas"/>
              <a:buNone/>
            </a:pPr>
            <a:r>
              <a:rPr lang="en-US" sz="1000" i="0" u="none" strike="noStrike" cap="none">
                <a:solidFill>
                  <a:srgbClr val="4B8B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print(nəticə.sum())</a:t>
            </a:r>
            <a:endParaRPr sz="10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16" name="Google Shape;316;g3dba6c06f64_0_603"/>
          <p:cNvSpPr/>
          <p:nvPr/>
        </p:nvSpPr>
        <p:spPr>
          <a:xfrm>
            <a:off x="5486400" y="100584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CSV modulu vs Pandas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dba6c06f64_0_603"/>
          <p:cNvSpPr/>
          <p:nvPr/>
        </p:nvSpPr>
        <p:spPr>
          <a:xfrm>
            <a:off x="5486400" y="1554480"/>
            <a:ext cx="3291900" cy="1371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3dba6c06f64_0_603"/>
          <p:cNvSpPr/>
          <p:nvPr/>
        </p:nvSpPr>
        <p:spPr>
          <a:xfrm>
            <a:off x="5486400" y="1554480"/>
            <a:ext cx="3291900" cy="549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3dba6c06f64_0_603"/>
          <p:cNvSpPr/>
          <p:nvPr/>
        </p:nvSpPr>
        <p:spPr>
          <a:xfrm>
            <a:off x="5669280" y="164592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 csv modulu ilə: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dba6c06f64_0_603"/>
          <p:cNvSpPr/>
          <p:nvPr/>
        </p:nvSpPr>
        <p:spPr>
          <a:xfrm>
            <a:off x="5669280" y="192024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6 sətir kod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Döngü lazımdır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Statistika əl ilə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dba6c06f64_0_603"/>
          <p:cNvSpPr/>
          <p:nvPr/>
        </p:nvSpPr>
        <p:spPr>
          <a:xfrm>
            <a:off x="5486400" y="3108960"/>
            <a:ext cx="3291900" cy="1371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dba6c06f64_0_603"/>
          <p:cNvSpPr/>
          <p:nvPr/>
        </p:nvSpPr>
        <p:spPr>
          <a:xfrm>
            <a:off x="5486400" y="3108960"/>
            <a:ext cx="3291900" cy="549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dba6c06f64_0_603"/>
          <p:cNvSpPr/>
          <p:nvPr/>
        </p:nvSpPr>
        <p:spPr>
          <a:xfrm>
            <a:off x="5669280" y="320040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✅ Pandas ilə: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dba6c06f64_0_603"/>
          <p:cNvSpPr/>
          <p:nvPr/>
        </p:nvSpPr>
        <p:spPr>
          <a:xfrm>
            <a:off x="5669280" y="347472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1 sətir: pd.read_csv()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df.describe() — avtomatik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df.groupby() — güclü qruplama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g3dba6c06f64_0_6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dba6c06f64_0_624"/>
          <p:cNvSpPr/>
          <p:nvPr/>
        </p:nvSpPr>
        <p:spPr>
          <a:xfrm>
            <a:off x="1280160" y="32004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FB923C"/>
                </a:solidFill>
              </a:rPr>
              <a:t>Matplotlib — Vizuallaşdırma</a:t>
            </a:r>
            <a:endParaRPr sz="3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332" name="Google Shape;332;g3dba6c06f64_0_624"/>
          <p:cNvSpPr/>
          <p:nvPr/>
        </p:nvSpPr>
        <p:spPr>
          <a:xfrm>
            <a:off x="640080" y="1005840"/>
            <a:ext cx="4114800" cy="18288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g3dba6c06f64_0_624"/>
          <p:cNvSpPr/>
          <p:nvPr/>
        </p:nvSpPr>
        <p:spPr>
          <a:xfrm>
            <a:off x="640080" y="1005840"/>
            <a:ext cx="4114800" cy="320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3dba6c06f64_0_624"/>
          <p:cNvSpPr/>
          <p:nvPr/>
        </p:nvSpPr>
        <p:spPr>
          <a:xfrm>
            <a:off x="914400" y="1024128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line_plot.py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dba6c06f64_0_624"/>
          <p:cNvSpPr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matplotlib.pyplot as plt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 numpy as np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np.linspace(0, 10, 100)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 = np.sin(x)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plt.plot(x, y, label="sin(x)")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plt.xlabel("Zaman")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plt.ylabel("Amplituda")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plt.title("Sinus Dalğası")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plt.legend()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plt.show()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36" name="Google Shape;336;g3dba6c06f64_0_624"/>
          <p:cNvSpPr/>
          <p:nvPr/>
        </p:nvSpPr>
        <p:spPr>
          <a:xfrm>
            <a:off x="5029200" y="1005840"/>
            <a:ext cx="3749100" cy="18288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dba6c06f64_0_624"/>
          <p:cNvSpPr/>
          <p:nvPr/>
        </p:nvSpPr>
        <p:spPr>
          <a:xfrm>
            <a:off x="5029200" y="1005840"/>
            <a:ext cx="3749100" cy="320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3dba6c06f64_0_624"/>
          <p:cNvSpPr/>
          <p:nvPr/>
        </p:nvSpPr>
        <p:spPr>
          <a:xfrm>
            <a:off x="5303520" y="102412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bar_chart.py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dba6c06f64_0_624"/>
          <p:cNvSpPr/>
          <p:nvPr/>
        </p:nvSpPr>
        <p:spPr>
          <a:xfrm>
            <a:off x="5303520" y="1371600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növlər = ["Canavar", "Qartal",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"Maral", "Ayı"]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saylar = [19, 11, 23, 5]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plt.bar(növlər, saylar,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color=["green", "gold",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"brown", "gray"])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plt.title("Heyvan Müşahidələri")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plt.ylabel("Say")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plt.show()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40" name="Google Shape;340;g3dba6c06f64_0_624"/>
          <p:cNvSpPr/>
          <p:nvPr/>
        </p:nvSpPr>
        <p:spPr>
          <a:xfrm>
            <a:off x="640080" y="3108960"/>
            <a:ext cx="4114800" cy="15546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dba6c06f64_0_624"/>
          <p:cNvSpPr/>
          <p:nvPr/>
        </p:nvSpPr>
        <p:spPr>
          <a:xfrm>
            <a:off x="640080" y="3108960"/>
            <a:ext cx="4114800" cy="320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3dba6c06f64_0_624"/>
          <p:cNvSpPr/>
          <p:nvPr/>
        </p:nvSpPr>
        <p:spPr>
          <a:xfrm>
            <a:off x="914400" y="3127248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scatter_plot.py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dba6c06f64_0_624"/>
          <p:cNvSpPr/>
          <p:nvPr/>
        </p:nvSpPr>
        <p:spPr>
          <a:xfrm>
            <a:off x="914400" y="3474720"/>
            <a:ext cx="36576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Scatter plot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np.random.randn(50)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 = 2*x + np.random.randn(50)*0.5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plt.scatter(x, y, alpha=0.7)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plt.xlabel("X dəyişəni")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plt.ylabel("Y dəyişəni")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plt.title("Korrelyasiya")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plt.show()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44" name="Google Shape;344;g3dba6c06f64_0_624"/>
          <p:cNvSpPr/>
          <p:nvPr/>
        </p:nvSpPr>
        <p:spPr>
          <a:xfrm>
            <a:off x="5029200" y="3108960"/>
            <a:ext cx="3749100" cy="15546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3dba6c06f64_0_624"/>
          <p:cNvSpPr/>
          <p:nvPr/>
        </p:nvSpPr>
        <p:spPr>
          <a:xfrm>
            <a:off x="5029200" y="3108960"/>
            <a:ext cx="3749100" cy="3201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dba6c06f64_0_624"/>
          <p:cNvSpPr/>
          <p:nvPr/>
        </p:nvSpPr>
        <p:spPr>
          <a:xfrm>
            <a:off x="5303520" y="312724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rPr>
              <a:t>histogram.py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dba6c06f64_0_624"/>
          <p:cNvSpPr/>
          <p:nvPr/>
        </p:nvSpPr>
        <p:spPr>
          <a:xfrm>
            <a:off x="5303520" y="3474720"/>
            <a:ext cx="32919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8899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Histogram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= np.random.randn(1000)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plt.hist(data, bins=30,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color="skyblue",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edgecolor="black")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plt.title("Normal Paylanma")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plt.xlabel("Dəyər")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onsolas"/>
              <a:buNone/>
            </a:pPr>
            <a:r>
              <a:rPr lang="en-US" sz="800" i="0" u="none" strike="noStrike" cap="non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plt.show()</a:t>
            </a:r>
            <a:endParaRPr sz="800" i="0" u="none" strike="noStrike" cap="non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ba6c06f64_0_415"/>
          <p:cNvSpPr/>
          <p:nvPr/>
        </p:nvSpPr>
        <p:spPr>
          <a:xfrm>
            <a:off x="640080" y="32004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3600"/>
              <a:buFont typeface="Trebuchet MS"/>
              <a:buNone/>
            </a:pPr>
            <a:r>
              <a:rPr lang="en-US" sz="3600" b="1">
                <a:solidFill>
                  <a:srgbClr val="FFD43B"/>
                </a:solidFill>
              </a:rPr>
              <a:t>Günün icmalı</a:t>
            </a:r>
            <a:endParaRPr sz="3600" b="1">
              <a:solidFill>
                <a:srgbClr val="FFD43B"/>
              </a:solidFill>
            </a:endParaRPr>
          </a:p>
        </p:txBody>
      </p:sp>
      <p:sp>
        <p:nvSpPr>
          <p:cNvPr id="354" name="Google Shape;354;g3dba6c06f64_0_415"/>
          <p:cNvSpPr/>
          <p:nvPr/>
        </p:nvSpPr>
        <p:spPr>
          <a:xfrm>
            <a:off x="457200" y="116128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g3dba6c06f64_0_4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261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dba6c06f64_0_415"/>
          <p:cNvSpPr/>
          <p:nvPr/>
        </p:nvSpPr>
        <p:spPr>
          <a:xfrm>
            <a:off x="1188720" y="11887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0:00 – 0:30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dba6c06f64_0_415"/>
          <p:cNvSpPr/>
          <p:nvPr/>
        </p:nvSpPr>
        <p:spPr>
          <a:xfrm>
            <a:off x="2743200" y="118872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Giriş &amp; Quraşdırma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dba6c06f64_0_415"/>
          <p:cNvSpPr/>
          <p:nvPr/>
        </p:nvSpPr>
        <p:spPr>
          <a:xfrm>
            <a:off x="5029200" y="118872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</a:rPr>
              <a:t>Tanışlıq, </a:t>
            </a: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Giriş, </a:t>
            </a:r>
            <a:r>
              <a:rPr lang="en-US" sz="1200">
                <a:solidFill>
                  <a:srgbClr val="8899AA"/>
                </a:solidFill>
              </a:rPr>
              <a:t>Y</a:t>
            </a: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ükləmələr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g3dba6c06f64_0_4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18562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dba6c06f64_0_415"/>
          <p:cNvSpPr/>
          <p:nvPr/>
        </p:nvSpPr>
        <p:spPr>
          <a:xfrm>
            <a:off x="1188720" y="178308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0:30 – 1:10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dba6c06f64_0_415"/>
          <p:cNvSpPr/>
          <p:nvPr/>
        </p:nvSpPr>
        <p:spPr>
          <a:xfrm>
            <a:off x="2743200" y="178308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Python-un əsasları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dba6c06f64_0_415"/>
          <p:cNvSpPr/>
          <p:nvPr/>
        </p:nvSpPr>
        <p:spPr>
          <a:xfrm>
            <a:off x="5029200" y="178308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</a:rPr>
              <a:t>Dəyişənlər</a:t>
            </a: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, döngülər, şərtlər, funksiyalar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dba6c06f64_0_415"/>
          <p:cNvSpPr/>
          <p:nvPr/>
        </p:nvSpPr>
        <p:spPr>
          <a:xfrm>
            <a:off x="457200" y="235000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g3dba6c06f64_0_4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245059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dba6c06f64_0_415"/>
          <p:cNvSpPr/>
          <p:nvPr/>
        </p:nvSpPr>
        <p:spPr>
          <a:xfrm>
            <a:off x="1188720" y="237744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1:10 – 1:20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dba6c06f64_0_415"/>
          <p:cNvSpPr/>
          <p:nvPr/>
        </p:nvSpPr>
        <p:spPr>
          <a:xfrm>
            <a:off x="2743200" y="237744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Fasilə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dba6c06f64_0_415"/>
          <p:cNvSpPr/>
          <p:nvPr/>
        </p:nvSpPr>
        <p:spPr>
          <a:xfrm>
            <a:off x="5029200" y="237744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Fasilə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g3dba6c06f64_0_4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3dba6c06f64_0_415"/>
          <p:cNvSpPr/>
          <p:nvPr/>
        </p:nvSpPr>
        <p:spPr>
          <a:xfrm>
            <a:off x="1188720" y="297180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1:20 – 1:50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dba6c06f64_0_415"/>
          <p:cNvSpPr/>
          <p:nvPr/>
        </p:nvSpPr>
        <p:spPr>
          <a:xfrm>
            <a:off x="2743200" y="297180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Lüğətlər &amp; Data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dba6c06f64_0_415"/>
          <p:cNvSpPr/>
          <p:nvPr/>
        </p:nvSpPr>
        <p:spPr>
          <a:xfrm>
            <a:off x="5029200" y="2971800"/>
            <a:ext cx="3657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99AA"/>
                </a:solidFill>
              </a:rPr>
              <a:t>Açar-dəyər, fayllar, CSV, NumPy, Pandas, Matplotlib</a:t>
            </a:r>
            <a:endParaRPr sz="1200">
              <a:solidFill>
                <a:srgbClr val="8899AA"/>
              </a:solidFill>
            </a:endParaRPr>
          </a:p>
        </p:txBody>
      </p:sp>
      <p:sp>
        <p:nvSpPr>
          <p:cNvPr id="372" name="Google Shape;372;g3dba6c06f64_0_415"/>
          <p:cNvSpPr/>
          <p:nvPr/>
        </p:nvSpPr>
        <p:spPr>
          <a:xfrm>
            <a:off x="457200" y="353872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g3dba6c06f64_0_4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080" y="36393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dba6c06f64_0_415"/>
          <p:cNvSpPr/>
          <p:nvPr/>
        </p:nvSpPr>
        <p:spPr>
          <a:xfrm>
            <a:off x="1188720" y="356616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1:50 – 2:10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dba6c06f64_0_415"/>
          <p:cNvSpPr/>
          <p:nvPr/>
        </p:nvSpPr>
        <p:spPr>
          <a:xfrm>
            <a:off x="2743200" y="356616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Kiçik Challenge’lər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dba6c06f64_0_415"/>
          <p:cNvSpPr/>
          <p:nvPr/>
        </p:nvSpPr>
        <p:spPr>
          <a:xfrm>
            <a:off x="5029200" y="356616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Python-da kiçik tapşırıqların həlli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g3dba6c06f64_0_41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0080" y="42336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dba6c06f64_0_415"/>
          <p:cNvSpPr/>
          <p:nvPr/>
        </p:nvSpPr>
        <p:spPr>
          <a:xfrm>
            <a:off x="1188720" y="41605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2:10 – 2:30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dba6c06f64_0_415"/>
          <p:cNvSpPr/>
          <p:nvPr/>
        </p:nvSpPr>
        <p:spPr>
          <a:xfrm>
            <a:off x="2743200" y="416052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Yekun &amp; icmal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dba6c06f64_0_415"/>
          <p:cNvSpPr/>
          <p:nvPr/>
        </p:nvSpPr>
        <p:spPr>
          <a:xfrm>
            <a:off x="5029200" y="416052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Növbəti günlərdə ediləcəklərin izahı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g3dba6c06f64_0_64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dba6c06f64_0_648"/>
          <p:cNvSpPr/>
          <p:nvPr/>
        </p:nvSpPr>
        <p:spPr>
          <a:xfrm>
            <a:off x="1280160" y="32004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3600"/>
              <a:buFont typeface="Trebuchet MS"/>
              <a:buNone/>
            </a:pPr>
            <a:r>
              <a:rPr lang="en-US" sz="3600" b="1" i="0" u="none" strike="noStrike" cap="none">
                <a:solidFill>
                  <a:srgbClr val="FB923C"/>
                </a:solidFill>
                <a:latin typeface="Trebuchet MS"/>
                <a:ea typeface="Trebuchet MS"/>
                <a:cs typeface="Trebuchet MS"/>
                <a:sym typeface="Trebuchet MS"/>
              </a:rPr>
              <a:t>Kiçik Challenge-lər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dba6c06f64_0_648"/>
          <p:cNvSpPr/>
          <p:nvPr/>
        </p:nvSpPr>
        <p:spPr>
          <a:xfrm>
            <a:off x="640080" y="914400"/>
            <a:ext cx="7863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1:50 – 2:10  •  Python redaktorunuzda sınayın!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dba6c06f64_0_648"/>
          <p:cNvSpPr/>
          <p:nvPr/>
        </p:nvSpPr>
        <p:spPr>
          <a:xfrm>
            <a:off x="640080" y="1417320"/>
            <a:ext cx="7863900" cy="7314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g3dba6c06f64_0_648"/>
          <p:cNvSpPr/>
          <p:nvPr/>
        </p:nvSpPr>
        <p:spPr>
          <a:xfrm>
            <a:off x="640080" y="1417320"/>
            <a:ext cx="54900" cy="731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dba6c06f64_0_648"/>
          <p:cNvSpPr/>
          <p:nvPr/>
        </p:nvSpPr>
        <p:spPr>
          <a:xfrm>
            <a:off x="914400" y="1417320"/>
            <a:ext cx="548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200"/>
              <a:buFont typeface="Consolas"/>
              <a:buNone/>
            </a:pPr>
            <a:r>
              <a:rPr lang="en-US" sz="22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dba6c06f64_0_648"/>
          <p:cNvSpPr/>
          <p:nvPr/>
        </p:nvSpPr>
        <p:spPr>
          <a:xfrm>
            <a:off x="1554480" y="1490472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Maksimumu Tap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dba6c06f64_0_648"/>
          <p:cNvSpPr/>
          <p:nvPr/>
        </p:nvSpPr>
        <p:spPr>
          <a:xfrm>
            <a:off x="1554480" y="178308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max() istifadə etmədən siyahıdakı ən böyük ədədi tapan funksiya yazın.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dba6c06f64_0_648"/>
          <p:cNvSpPr/>
          <p:nvPr/>
        </p:nvSpPr>
        <p:spPr>
          <a:xfrm>
            <a:off x="7498080" y="1618488"/>
            <a:ext cx="822900" cy="320100"/>
          </a:xfrm>
          <a:prstGeom prst="rect">
            <a:avLst/>
          </a:prstGeom>
          <a:solidFill>
            <a:srgbClr val="34D39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g3dba6c06f64_0_648"/>
          <p:cNvSpPr/>
          <p:nvPr/>
        </p:nvSpPr>
        <p:spPr>
          <a:xfrm>
            <a:off x="7498080" y="1618488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Asan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dba6c06f64_0_648"/>
          <p:cNvSpPr/>
          <p:nvPr/>
        </p:nvSpPr>
        <p:spPr>
          <a:xfrm>
            <a:off x="640080" y="2286000"/>
            <a:ext cx="7863900" cy="7314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g3dba6c06f64_0_648"/>
          <p:cNvSpPr/>
          <p:nvPr/>
        </p:nvSpPr>
        <p:spPr>
          <a:xfrm>
            <a:off x="640080" y="2286000"/>
            <a:ext cx="54900" cy="731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dba6c06f64_0_648"/>
          <p:cNvSpPr/>
          <p:nvPr/>
        </p:nvSpPr>
        <p:spPr>
          <a:xfrm>
            <a:off x="914400" y="2286000"/>
            <a:ext cx="548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200"/>
              <a:buFont typeface="Consolas"/>
              <a:buNone/>
            </a:pPr>
            <a:r>
              <a:rPr lang="en-US" sz="22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dba6c06f64_0_648"/>
          <p:cNvSpPr/>
          <p:nvPr/>
        </p:nvSpPr>
        <p:spPr>
          <a:xfrm>
            <a:off x="1554480" y="2359152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Sətri Tərsinə Çevir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dba6c06f64_0_648"/>
          <p:cNvSpPr/>
          <p:nvPr/>
        </p:nvSpPr>
        <p:spPr>
          <a:xfrm>
            <a:off x="1554480" y="265176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Sətri tərsinə çevirən funksiya yazın. Slicing olmadan edə bilərsiniz?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dba6c06f64_0_648"/>
          <p:cNvSpPr/>
          <p:nvPr/>
        </p:nvSpPr>
        <p:spPr>
          <a:xfrm>
            <a:off x="7498080" y="2487168"/>
            <a:ext cx="822900" cy="320100"/>
          </a:xfrm>
          <a:prstGeom prst="rect">
            <a:avLst/>
          </a:prstGeom>
          <a:solidFill>
            <a:srgbClr val="34D39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3dba6c06f64_0_648"/>
          <p:cNvSpPr/>
          <p:nvPr/>
        </p:nvSpPr>
        <p:spPr>
          <a:xfrm>
            <a:off x="7498080" y="2487168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Asan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dba6c06f64_0_648"/>
          <p:cNvSpPr/>
          <p:nvPr/>
        </p:nvSpPr>
        <p:spPr>
          <a:xfrm>
            <a:off x="640080" y="3154680"/>
            <a:ext cx="7863900" cy="7314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3dba6c06f64_0_648"/>
          <p:cNvSpPr/>
          <p:nvPr/>
        </p:nvSpPr>
        <p:spPr>
          <a:xfrm>
            <a:off x="640080" y="3154680"/>
            <a:ext cx="54900" cy="73140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3dba6c06f64_0_648"/>
          <p:cNvSpPr/>
          <p:nvPr/>
        </p:nvSpPr>
        <p:spPr>
          <a:xfrm>
            <a:off x="914400" y="3154680"/>
            <a:ext cx="548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200"/>
              <a:buFont typeface="Consolas"/>
              <a:buNone/>
            </a:pPr>
            <a:r>
              <a:rPr lang="en-US" sz="2200" b="1" i="0" u="none" strike="noStrike" cap="none">
                <a:solidFill>
                  <a:srgbClr val="FFD43B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dba6c06f64_0_648"/>
          <p:cNvSpPr/>
          <p:nvPr/>
        </p:nvSpPr>
        <p:spPr>
          <a:xfrm>
            <a:off x="1554480" y="3227832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Saitləri Say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dba6c06f64_0_648"/>
          <p:cNvSpPr/>
          <p:nvPr/>
        </p:nvSpPr>
        <p:spPr>
          <a:xfrm>
            <a:off x="1554480" y="352044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Verilmiş cümlədə sait hərflərin sayını lüğət ilə hesablayın.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dba6c06f64_0_648"/>
          <p:cNvSpPr/>
          <p:nvPr/>
        </p:nvSpPr>
        <p:spPr>
          <a:xfrm>
            <a:off x="7498080" y="3355848"/>
            <a:ext cx="822900" cy="320100"/>
          </a:xfrm>
          <a:prstGeom prst="rect">
            <a:avLst/>
          </a:prstGeom>
          <a:solidFill>
            <a:srgbClr val="FFD43B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3dba6c06f64_0_648"/>
          <p:cNvSpPr/>
          <p:nvPr/>
        </p:nvSpPr>
        <p:spPr>
          <a:xfrm>
            <a:off x="7498080" y="3355848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D43B"/>
                </a:solidFill>
                <a:latin typeface="Calibri"/>
                <a:ea typeface="Calibri"/>
                <a:cs typeface="Calibri"/>
                <a:sym typeface="Calibri"/>
              </a:rPr>
              <a:t>Orta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dba6c06f64_0_648"/>
          <p:cNvSpPr/>
          <p:nvPr/>
        </p:nvSpPr>
        <p:spPr>
          <a:xfrm>
            <a:off x="640080" y="4023360"/>
            <a:ext cx="7863900" cy="7314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3dba6c06f64_0_648"/>
          <p:cNvSpPr/>
          <p:nvPr/>
        </p:nvSpPr>
        <p:spPr>
          <a:xfrm>
            <a:off x="640080" y="4023360"/>
            <a:ext cx="54900" cy="731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3dba6c06f64_0_648"/>
          <p:cNvSpPr/>
          <p:nvPr/>
        </p:nvSpPr>
        <p:spPr>
          <a:xfrm>
            <a:off x="914400" y="4023360"/>
            <a:ext cx="5487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200"/>
              <a:buFont typeface="Consolas"/>
              <a:buNone/>
            </a:pPr>
            <a:r>
              <a:rPr lang="en-US" sz="2200" b="1" i="0" u="none" strike="noStrike" cap="none">
                <a:solidFill>
                  <a:srgbClr val="FB923C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dba6c06f64_0_648"/>
          <p:cNvSpPr/>
          <p:nvPr/>
        </p:nvSpPr>
        <p:spPr>
          <a:xfrm>
            <a:off x="1554480" y="4096512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Söz Tezliyi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dba6c06f64_0_648"/>
          <p:cNvSpPr/>
          <p:nvPr/>
        </p:nvSpPr>
        <p:spPr>
          <a:xfrm>
            <a:off x="1554480" y="438912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Mətn faylını oxuyun və hər sözün neçə dəfə təkrarlandığını hesablayın. İlk 5-i göstərin.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dba6c06f64_0_648"/>
          <p:cNvSpPr/>
          <p:nvPr/>
        </p:nvSpPr>
        <p:spPr>
          <a:xfrm>
            <a:off x="7498080" y="4224528"/>
            <a:ext cx="822900" cy="320100"/>
          </a:xfrm>
          <a:prstGeom prst="rect">
            <a:avLst/>
          </a:prstGeom>
          <a:solidFill>
            <a:srgbClr val="FB923C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3dba6c06f64_0_648"/>
          <p:cNvSpPr/>
          <p:nvPr/>
        </p:nvSpPr>
        <p:spPr>
          <a:xfrm>
            <a:off x="7498080" y="4224528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Çətin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dba6c06f64_0_709"/>
          <p:cNvSpPr/>
          <p:nvPr/>
        </p:nvSpPr>
        <p:spPr>
          <a:xfrm>
            <a:off x="640080" y="32004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3600"/>
              <a:buFont typeface="Trebuchet MS"/>
              <a:buNone/>
            </a:pPr>
            <a:r>
              <a:rPr lang="en-US" sz="3600" b="1">
                <a:solidFill>
                  <a:srgbClr val="FFD43B"/>
                </a:solidFill>
              </a:rPr>
              <a:t>Günün icmalı</a:t>
            </a:r>
            <a:endParaRPr sz="3600" b="1">
              <a:solidFill>
                <a:srgbClr val="FFD43B"/>
              </a:solidFill>
            </a:endParaRPr>
          </a:p>
        </p:txBody>
      </p:sp>
      <p:sp>
        <p:nvSpPr>
          <p:cNvPr id="423" name="Google Shape;423;g3dba6c06f64_0_709"/>
          <p:cNvSpPr/>
          <p:nvPr/>
        </p:nvSpPr>
        <p:spPr>
          <a:xfrm>
            <a:off x="457200" y="116128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g3dba6c06f64_0_70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261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g3dba6c06f64_0_709"/>
          <p:cNvSpPr/>
          <p:nvPr/>
        </p:nvSpPr>
        <p:spPr>
          <a:xfrm>
            <a:off x="1188720" y="11887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0:00 – 0:30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dba6c06f64_0_709"/>
          <p:cNvSpPr/>
          <p:nvPr/>
        </p:nvSpPr>
        <p:spPr>
          <a:xfrm>
            <a:off x="2743200" y="118872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Giriş &amp; Quraşdırma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dba6c06f64_0_709"/>
          <p:cNvSpPr/>
          <p:nvPr/>
        </p:nvSpPr>
        <p:spPr>
          <a:xfrm>
            <a:off x="5029200" y="118872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</a:rPr>
              <a:t>Tanışlıq, </a:t>
            </a: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Giriş, </a:t>
            </a:r>
            <a:r>
              <a:rPr lang="en-US" sz="1200">
                <a:solidFill>
                  <a:srgbClr val="8899AA"/>
                </a:solidFill>
              </a:rPr>
              <a:t>Y</a:t>
            </a: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ükləmələr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g3dba6c06f64_0_70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18562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3dba6c06f64_0_709"/>
          <p:cNvSpPr/>
          <p:nvPr/>
        </p:nvSpPr>
        <p:spPr>
          <a:xfrm>
            <a:off x="1188720" y="178308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0:30 – 1:10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dba6c06f64_0_709"/>
          <p:cNvSpPr/>
          <p:nvPr/>
        </p:nvSpPr>
        <p:spPr>
          <a:xfrm>
            <a:off x="2743200" y="178308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Python-un əsasları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dba6c06f64_0_709"/>
          <p:cNvSpPr/>
          <p:nvPr/>
        </p:nvSpPr>
        <p:spPr>
          <a:xfrm>
            <a:off x="5029200" y="178308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</a:rPr>
              <a:t>Dəyişənlər</a:t>
            </a: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, döngülər, şərtlər, funksiyalar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dba6c06f64_0_709"/>
          <p:cNvSpPr/>
          <p:nvPr/>
        </p:nvSpPr>
        <p:spPr>
          <a:xfrm>
            <a:off x="457200" y="235000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g3dba6c06f64_0_70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080" y="245059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dba6c06f64_0_709"/>
          <p:cNvSpPr/>
          <p:nvPr/>
        </p:nvSpPr>
        <p:spPr>
          <a:xfrm>
            <a:off x="1188720" y="237744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1:10 – 1:20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dba6c06f64_0_709"/>
          <p:cNvSpPr/>
          <p:nvPr/>
        </p:nvSpPr>
        <p:spPr>
          <a:xfrm>
            <a:off x="2743200" y="237744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Fasilə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dba6c06f64_0_709"/>
          <p:cNvSpPr/>
          <p:nvPr/>
        </p:nvSpPr>
        <p:spPr>
          <a:xfrm>
            <a:off x="5029200" y="237744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Fasilə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" name="Google Shape;437;g3dba6c06f64_0_70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dba6c06f64_0_709"/>
          <p:cNvSpPr/>
          <p:nvPr/>
        </p:nvSpPr>
        <p:spPr>
          <a:xfrm>
            <a:off x="1188720" y="297180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1:20 – 1:50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dba6c06f64_0_709"/>
          <p:cNvSpPr/>
          <p:nvPr/>
        </p:nvSpPr>
        <p:spPr>
          <a:xfrm>
            <a:off x="2743200" y="297180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Lüğətlər &amp; Data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dba6c06f64_0_709"/>
          <p:cNvSpPr/>
          <p:nvPr/>
        </p:nvSpPr>
        <p:spPr>
          <a:xfrm>
            <a:off x="5029200" y="2971800"/>
            <a:ext cx="3657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99AA"/>
                </a:solidFill>
              </a:rPr>
              <a:t>Açar-dəyər, fayllar, CSV, NumPy, Pandas, Matplotlib</a:t>
            </a:r>
            <a:endParaRPr sz="1200">
              <a:solidFill>
                <a:srgbClr val="8899AA"/>
              </a:solidFill>
            </a:endParaRPr>
          </a:p>
        </p:txBody>
      </p:sp>
      <p:sp>
        <p:nvSpPr>
          <p:cNvPr id="441" name="Google Shape;441;g3dba6c06f64_0_709"/>
          <p:cNvSpPr/>
          <p:nvPr/>
        </p:nvSpPr>
        <p:spPr>
          <a:xfrm>
            <a:off x="457200" y="3538728"/>
            <a:ext cx="8229600" cy="594300"/>
          </a:xfrm>
          <a:prstGeom prst="rect">
            <a:avLst/>
          </a:prstGeom>
          <a:solidFill>
            <a:srgbClr val="1A2332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" name="Google Shape;442;g3dba6c06f64_0_70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080" y="36393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g3dba6c06f64_0_709"/>
          <p:cNvSpPr/>
          <p:nvPr/>
        </p:nvSpPr>
        <p:spPr>
          <a:xfrm>
            <a:off x="1188720" y="356616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1:50 – 2:10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dba6c06f64_0_709"/>
          <p:cNvSpPr/>
          <p:nvPr/>
        </p:nvSpPr>
        <p:spPr>
          <a:xfrm>
            <a:off x="2743200" y="356616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Kiçik Challenge’lər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dba6c06f64_0_709"/>
          <p:cNvSpPr/>
          <p:nvPr/>
        </p:nvSpPr>
        <p:spPr>
          <a:xfrm>
            <a:off x="5029200" y="356616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Python-da kiçik tapşırıqların həlli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g3dba6c06f64_0_70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0080" y="42336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dba6c06f64_0_709"/>
          <p:cNvSpPr/>
          <p:nvPr/>
        </p:nvSpPr>
        <p:spPr>
          <a:xfrm>
            <a:off x="1188720" y="416052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2:10 – 2:30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dba6c06f64_0_709"/>
          <p:cNvSpPr/>
          <p:nvPr/>
        </p:nvSpPr>
        <p:spPr>
          <a:xfrm>
            <a:off x="2743200" y="4160520"/>
            <a:ext cx="2286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Yekun &amp; icmal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3dba6c06f64_0_709"/>
          <p:cNvSpPr/>
          <p:nvPr/>
        </p:nvSpPr>
        <p:spPr>
          <a:xfrm>
            <a:off x="5029200" y="4160520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Növbəti günlərdə ediləcəklərin izahı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ba6c06f64_0_74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FFD43B">
              <a:alpha val="941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6" name="Google Shape;456;g3dba6c06f64_0_74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320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g3dba6c06f64_0_741"/>
          <p:cNvSpPr/>
          <p:nvPr/>
        </p:nvSpPr>
        <p:spPr>
          <a:xfrm>
            <a:off x="1280160" y="32004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3600"/>
              <a:buFont typeface="Trebuchet MS"/>
              <a:buNone/>
            </a:pPr>
            <a:r>
              <a:rPr lang="en-US" sz="3600" b="1" i="0" u="none" strike="noStrike" cap="none" dirty="0" err="1">
                <a:solidFill>
                  <a:srgbClr val="FFD43B"/>
                </a:solidFill>
              </a:rPr>
              <a:t>Növbəti</a:t>
            </a:r>
            <a:r>
              <a:rPr lang="en-US" sz="3600" b="1" i="0" u="none" strike="noStrike" cap="none" dirty="0">
                <a:solidFill>
                  <a:srgbClr val="FFD43B"/>
                </a:solidFill>
              </a:rPr>
              <a:t> </a:t>
            </a:r>
            <a:r>
              <a:rPr lang="en-US" sz="3600" b="1" i="0" u="none" strike="noStrike" cap="none" dirty="0" err="1">
                <a:solidFill>
                  <a:srgbClr val="FFD43B"/>
                </a:solidFill>
              </a:rPr>
              <a:t>W</a:t>
            </a:r>
            <a:r>
              <a:rPr lang="en-US" sz="3600" b="1" dirty="0" err="1">
                <a:solidFill>
                  <a:srgbClr val="FFD43B"/>
                </a:solidFill>
              </a:rPr>
              <a:t>orkshopda</a:t>
            </a:r>
            <a:r>
              <a:rPr lang="en-US" sz="3600" b="1" i="0" u="none" strike="noStrike" cap="none" dirty="0">
                <a:solidFill>
                  <a:srgbClr val="FFD43B"/>
                </a:solidFill>
              </a:rPr>
              <a:t>?</a:t>
            </a:r>
            <a:endParaRPr sz="360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458" name="Google Shape;458;g3dba6c06f64_0_741"/>
          <p:cNvSpPr/>
          <p:nvPr/>
        </p:nvSpPr>
        <p:spPr>
          <a:xfrm>
            <a:off x="640080" y="1097280"/>
            <a:ext cx="3657600" cy="11886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9" name="Google Shape;459;g3dba6c06f64_0_74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dba6c06f64_0_741"/>
          <p:cNvSpPr/>
          <p:nvPr/>
        </p:nvSpPr>
        <p:spPr>
          <a:xfrm>
            <a:off x="1417320" y="1234440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34D399"/>
                </a:solidFill>
              </a:rPr>
              <a:t>Bu Gün Öyrəndikləriniz</a:t>
            </a:r>
            <a:endParaRPr sz="16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61" name="Google Shape;461;g3dba6c06f64_0_741"/>
          <p:cNvSpPr/>
          <p:nvPr/>
        </p:nvSpPr>
        <p:spPr>
          <a:xfrm>
            <a:off x="914400" y="1691640"/>
            <a:ext cx="310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8899AA"/>
                </a:solidFill>
              </a:rPr>
              <a:t>Python əsasları, lüğətlər, fayllar, CSV, NumPy, Pandas, Matplotlib</a:t>
            </a:r>
            <a:endParaRPr sz="1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62" name="Google Shape;462;g3dba6c06f64_0_741"/>
          <p:cNvSpPr/>
          <p:nvPr/>
        </p:nvSpPr>
        <p:spPr>
          <a:xfrm>
            <a:off x="4754880" y="1097280"/>
            <a:ext cx="3931800" cy="15546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3dba6c06f64_0_741"/>
          <p:cNvSpPr/>
          <p:nvPr/>
        </p:nvSpPr>
        <p:spPr>
          <a:xfrm>
            <a:off x="4754880" y="1097280"/>
            <a:ext cx="54900" cy="1554600"/>
          </a:xfrm>
          <a:prstGeom prst="rect">
            <a:avLst/>
          </a:prstGeom>
          <a:solidFill>
            <a:srgbClr val="4B8B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g3dba6c06f64_0_741"/>
          <p:cNvSpPr/>
          <p:nvPr/>
        </p:nvSpPr>
        <p:spPr>
          <a:xfrm>
            <a:off x="4983480" y="1188720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8BF5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4B8BF5"/>
                </a:solidFill>
              </a:rPr>
              <a:t>Gün 2</a:t>
            </a:r>
            <a:endParaRPr sz="13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65" name="Google Shape;465;g3dba6c06f64_0_741"/>
          <p:cNvSpPr/>
          <p:nvPr/>
        </p:nvSpPr>
        <p:spPr>
          <a:xfrm>
            <a:off x="5943600" y="118872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</a:rPr>
              <a:t>Sahə</a:t>
            </a:r>
            <a:r>
              <a:rPr lang="en-US" sz="1500" b="1">
                <a:solidFill>
                  <a:srgbClr val="FFFFFF"/>
                </a:solidFill>
              </a:rPr>
              <a:t>yə özəl</a:t>
            </a:r>
            <a:r>
              <a:rPr lang="en-US" sz="1500" b="1" i="0" u="none" strike="noStrike" cap="none">
                <a:solidFill>
                  <a:srgbClr val="FFFFFF"/>
                </a:solidFill>
              </a:rPr>
              <a:t> </a:t>
            </a:r>
            <a:r>
              <a:rPr lang="en-US" sz="1500" b="1">
                <a:solidFill>
                  <a:srgbClr val="FFFFFF"/>
                </a:solidFill>
              </a:rPr>
              <a:t>t</a:t>
            </a:r>
            <a:r>
              <a:rPr lang="en-US" sz="1500" b="1" i="0" u="none" strike="noStrike" cap="none">
                <a:solidFill>
                  <a:srgbClr val="FFFFFF"/>
                </a:solidFill>
              </a:rPr>
              <a:t>apşırıqlar</a:t>
            </a:r>
            <a:endParaRPr sz="15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66" name="Google Shape;466;g3dba6c06f64_0_741"/>
          <p:cNvSpPr/>
          <p:nvPr/>
        </p:nvSpPr>
        <p:spPr>
          <a:xfrm>
            <a:off x="5074920" y="1600200"/>
            <a:ext cx="3291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Char char="•"/>
            </a:pPr>
            <a:r>
              <a:rPr lang="en-US" sz="1200" i="0" u="none" strike="noStrike" cap="none">
                <a:solidFill>
                  <a:srgbClr val="E8ECF1"/>
                </a:solidFill>
              </a:rPr>
              <a:t>Bioinformatika: DNT ardıcıllıqları</a:t>
            </a:r>
            <a:endParaRPr sz="1200" i="0" u="none" strike="noStrike" cap="none">
              <a:solidFill>
                <a:schemeClr val="dk1"/>
              </a:solidFill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E8ECF1"/>
              </a:buClr>
              <a:buSzPts val="1200"/>
              <a:buChar char="•"/>
            </a:pPr>
            <a:r>
              <a:rPr lang="en-US" sz="1200" i="0" u="none" strike="noStrike" cap="none">
                <a:solidFill>
                  <a:srgbClr val="E8ECF1"/>
                </a:solidFill>
              </a:rPr>
              <a:t>Neyroelm: Siqnal analizi</a:t>
            </a:r>
            <a:endParaRPr sz="1200" i="0" u="none" strike="noStrike" cap="none">
              <a:solidFill>
                <a:schemeClr val="dk1"/>
              </a:solidFill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E8ECF1"/>
              </a:buClr>
              <a:buSzPts val="1200"/>
              <a:buChar char="•"/>
            </a:pPr>
            <a:r>
              <a:rPr lang="en-US" sz="1200" i="0" u="none" strike="noStrike" cap="none">
                <a:solidFill>
                  <a:srgbClr val="E8ECF1"/>
                </a:solidFill>
              </a:rPr>
              <a:t>Təbiət Elmləri: Ekoloji data</a:t>
            </a:r>
            <a:endParaRPr sz="1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67" name="Google Shape;467;g3dba6c06f64_0_741"/>
          <p:cNvSpPr/>
          <p:nvPr/>
        </p:nvSpPr>
        <p:spPr>
          <a:xfrm>
            <a:off x="4754880" y="2926080"/>
            <a:ext cx="3931800" cy="15546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3dba6c06f64_0_741"/>
          <p:cNvSpPr/>
          <p:nvPr/>
        </p:nvSpPr>
        <p:spPr>
          <a:xfrm>
            <a:off x="4754880" y="2926080"/>
            <a:ext cx="54900" cy="1554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g3dba6c06f64_0_741"/>
          <p:cNvSpPr/>
          <p:nvPr/>
        </p:nvSpPr>
        <p:spPr>
          <a:xfrm>
            <a:off x="4983480" y="3017520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A78BFA"/>
                </a:solidFill>
              </a:rPr>
              <a:t>Gün 3</a:t>
            </a:r>
            <a:endParaRPr sz="13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70" name="Google Shape;470;g3dba6c06f64_0_741"/>
          <p:cNvSpPr/>
          <p:nvPr/>
        </p:nvSpPr>
        <p:spPr>
          <a:xfrm>
            <a:off x="5943600" y="301752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</a:rPr>
              <a:t>Kiçik</a:t>
            </a:r>
            <a:r>
              <a:rPr lang="en-US" sz="1500" b="1" i="0" u="none" strike="noStrike" cap="none">
                <a:solidFill>
                  <a:srgbClr val="FFFFFF"/>
                </a:solidFill>
              </a:rPr>
              <a:t> Layihələr</a:t>
            </a:r>
            <a:endParaRPr sz="15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71" name="Google Shape;471;g3dba6c06f64_0_741"/>
          <p:cNvSpPr/>
          <p:nvPr/>
        </p:nvSpPr>
        <p:spPr>
          <a:xfrm>
            <a:off x="5074920" y="3429000"/>
            <a:ext cx="3291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Char char="•"/>
            </a:pPr>
            <a:r>
              <a:rPr lang="en-US" sz="1200" i="0" u="none" strike="noStrike" cap="none">
                <a:solidFill>
                  <a:srgbClr val="E8ECF1"/>
                </a:solidFill>
              </a:rPr>
              <a:t>Sahəniz üçün real alətlər qurun</a:t>
            </a:r>
            <a:endParaRPr sz="1200" i="0" u="none" strike="noStrike" cap="none">
              <a:solidFill>
                <a:schemeClr val="dk1"/>
              </a:solidFill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E8ECF1"/>
              </a:buClr>
              <a:buSzPts val="1200"/>
              <a:buChar char="•"/>
            </a:pPr>
            <a:r>
              <a:rPr lang="en-US" sz="1200" i="0" u="none" strike="noStrike" cap="none">
                <a:solidFill>
                  <a:srgbClr val="E8ECF1"/>
                </a:solidFill>
              </a:rPr>
              <a:t>Nəticələrinizi təqdim edin</a:t>
            </a:r>
            <a:endParaRPr sz="1200" i="0" u="none" strike="noStrike" cap="none">
              <a:solidFill>
                <a:schemeClr val="dk1"/>
              </a:solidFill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E8ECF1"/>
              </a:buClr>
              <a:buSzPts val="1200"/>
              <a:buChar char="•"/>
            </a:pPr>
            <a:r>
              <a:rPr lang="en-US" sz="1200" i="0" u="none" strike="noStrike" cap="none">
                <a:solidFill>
                  <a:srgbClr val="E8ECF1"/>
                </a:solidFill>
              </a:rPr>
              <a:t>Bacarıqlarınızı irəli aparın</a:t>
            </a:r>
            <a:endParaRPr sz="12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72" name="Google Shape;472;g3dba6c06f64_0_741"/>
          <p:cNvSpPr/>
          <p:nvPr/>
        </p:nvSpPr>
        <p:spPr>
          <a:xfrm>
            <a:off x="640080" y="2560320"/>
            <a:ext cx="3657600" cy="1280100"/>
          </a:xfrm>
          <a:prstGeom prst="rect">
            <a:avLst/>
          </a:prstGeom>
          <a:solidFill>
            <a:srgbClr val="1A23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3dba6c06f64_0_741"/>
          <p:cNvSpPr/>
          <p:nvPr/>
        </p:nvSpPr>
        <p:spPr>
          <a:xfrm>
            <a:off x="822960" y="2651760"/>
            <a:ext cx="3291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00"/>
              <a:buFont typeface="Georgia"/>
              <a:buNone/>
            </a:pPr>
            <a:r>
              <a:rPr lang="en-US" sz="1600" i="1" u="none" strike="noStrike" cap="none">
                <a:solidFill>
                  <a:srgbClr val="FFD43B"/>
                </a:solidFill>
              </a:rPr>
              <a:t>"Proqramlaşdırmanı öyrənməyin</a:t>
            </a:r>
            <a:endParaRPr sz="1600" i="0" u="none" strike="noStrike" cap="none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600"/>
              <a:buFont typeface="Georgia"/>
              <a:buNone/>
            </a:pPr>
            <a:r>
              <a:rPr lang="en-US" sz="1600" i="1" u="none" strike="noStrike" cap="none">
                <a:solidFill>
                  <a:srgbClr val="FFD43B"/>
                </a:solidFill>
              </a:rPr>
              <a:t>ən yaxşı yolu etməkdir."</a:t>
            </a:r>
            <a:endParaRPr sz="16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74" name="Google Shape;474;g3dba6c06f64_0_741"/>
          <p:cNvSpPr/>
          <p:nvPr/>
        </p:nvSpPr>
        <p:spPr>
          <a:xfrm>
            <a:off x="822960" y="3429000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8899AA"/>
                </a:solidFill>
              </a:rPr>
              <a:t>— Gün 2-də görüşək!</a:t>
            </a:r>
            <a:endParaRPr sz="1200" i="0" u="none" strike="noStrike" cap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1772</Words>
  <Application>Microsoft Macintosh PowerPoint</Application>
  <PresentationFormat>On-screen Show (16:9)</PresentationFormat>
  <Paragraphs>379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Trebuchet MS</vt:lpstr>
      <vt:lpstr>Georgia</vt:lpstr>
      <vt:lpstr>Times New Roman</vt:lpstr>
      <vt:lpstr>Arial</vt:lpstr>
      <vt:lpstr>Consolas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PyWeek</dc:creator>
  <cp:lastModifiedBy>Elnur Imamaliyev</cp:lastModifiedBy>
  <cp:revision>3</cp:revision>
  <dcterms:created xsi:type="dcterms:W3CDTF">2026-04-08T20:59:42Z</dcterms:created>
  <dcterms:modified xsi:type="dcterms:W3CDTF">2026-05-04T21:00:26Z</dcterms:modified>
</cp:coreProperties>
</file>